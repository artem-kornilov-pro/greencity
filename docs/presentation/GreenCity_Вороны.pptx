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AECF92-EAFC-4E1C-952B-978A0C650F0C}">
  <a:tblStyle styleId="{5BAECF92-EAFC-4E1C-952B-978A0C650F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Команда «Вороны», проект GreenCity: автоматическое проектирование озеленения по DXF с учётом подземных сетей и норм.</a:t>
            </a: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4" name="Google Shape;39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5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/private/tmp/claude-501/-Users-kornilovartemiy-Desktop-GreenCity/740c8ec2-4d0c-4b8c-ad15-1185ccf47af5/scratchpad/deck/assets/landscape_titl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933017"/>
            <a:ext cx="12191695" cy="3924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/private/tmp/claude-501/-Users-kornilovartemiy-Desktop-GreenCity/740c8ec2-4d0c-4b8c-ad15-1185ccf47af5/scratchpad/deck/assets/org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457200"/>
            <a:ext cx="5669280" cy="356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 descr="/private/tmp/claude-501/-Users-kornilovartemiy-Desktop-GreenCity/740c8ec2-4d0c-4b8c-ad15-1185ccf47af5/scratchpad/deck/assets/eco_dark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64040" y="292608"/>
            <a:ext cx="2194560" cy="86659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/>
        </p:nvSpPr>
        <p:spPr>
          <a:xfrm>
            <a:off x="548640" y="123444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КОНКУРС «ЛИДЕРЫ ЦИФРОВОЙ ТРАНСФОРМАЦИИ 2026»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548640" y="1572768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GreenCity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892040" y="1810512"/>
            <a:ext cx="2926080" cy="502920"/>
          </a:xfrm>
          <a:prstGeom prst="roundRect">
            <a:avLst>
              <a:gd name="adj" fmla="val 21818"/>
            </a:avLst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4892040" y="1810512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Команда «Вороны»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3" descr="/private/tmp/claude-501/-Users-kornilovartemiy-Desktop-GreenCity/740c8ec2-4d0c-4b8c-ad15-1185ccf47af5/scratchpad/deck/assets/crow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55280" y="1463040"/>
            <a:ext cx="1143000" cy="95792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548640" y="25603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Сервис для автоматического проектирования озеленения города с учётом расположения подземных коммуникаций и городской среды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8412480" y="1261872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Постановщик задачи: Департамент природопользования и охраны окружающей среды города Москвы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 descr="/private/tmp/claude-501/-Users-kornilovartemiy-Desktop-GreenCity/740c8ec2-4d0c-4b8c-ad15-1185ccf47af5/scratchpad/deck/assets/org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9480" y="384048"/>
            <a:ext cx="4434840" cy="2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02920" y="320040"/>
            <a:ext cx="2286000" cy="603504"/>
          </a:xfrm>
          <a:prstGeom prst="roundRect">
            <a:avLst>
              <a:gd name="adj" fmla="val 18182"/>
            </a:avLst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 txBox="1"/>
          <p:nvPr/>
        </p:nvSpPr>
        <p:spPr>
          <a:xfrm>
            <a:off x="502920" y="320040"/>
            <a:ext cx="2286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 РЕШЕНИИ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0" y="2926080"/>
            <a:ext cx="5440680" cy="3931920"/>
          </a:xfrm>
          <a:prstGeom prst="rect">
            <a:avLst/>
          </a:prstGeom>
          <a:solidFill>
            <a:srgbClr val="EEF7F0"/>
          </a:solidFill>
          <a:ln w="12700" cap="flat" cmpd="sng">
            <a:solidFill>
              <a:srgbClr val="EEF7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" name="Google Shape;36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137160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/>
        </p:nvSpPr>
        <p:spPr>
          <a:xfrm>
            <a:off x="1463040" y="141732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GreenCity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548640" y="22402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DXF → нормы → план озеленения → DXF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502920" y="320040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Для кого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502920" y="3749040"/>
            <a:ext cx="466344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Специалисты ДПиООС и подведомственных организаций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1200"/>
              </a:spcBef>
              <a:spcAft>
                <a:spcPts val="0"/>
              </a:spcAft>
              <a:buClr>
                <a:srgbClr val="1C1D1A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Проектировщики благоустройства и озеленения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1200"/>
              </a:spcBef>
              <a:spcAft>
                <a:spcPts val="0"/>
              </a:spcAft>
              <a:buClr>
                <a:srgbClr val="1C1D1A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Участники согласования проектов городской среды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5989320" y="1325880"/>
            <a:ext cx="5669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Суть решения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5989320" y="1783080"/>
            <a:ext cx="566928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Сервис принимает DXF или папку DWG участка, строит карту «где можно сажать» по нормам отступов от сетей, зданий и дорожек и сам проектирует озеленение — деревья, кустарники, газон — по аналогии с реализованными проектами. На выходе DXF с посадкой на отдельных слоях и пояснительная записка со ссылками на НПА.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5989320" y="3840480"/>
            <a:ext cx="5669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Уникальность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5989320" y="4297680"/>
            <a:ext cx="566928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500"/>
              <a:buFont typeface="Arial"/>
              <a:buNone/>
            </a:pPr>
            <a:r>
              <a:rPr lang="en-US" sz="15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Гибрид</a:t>
            </a:r>
            <a:r>
              <a:rPr lang="en-US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5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приёмы</a:t>
            </a:r>
            <a:r>
              <a:rPr lang="en-US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озеленения</a:t>
            </a:r>
            <a:r>
              <a:rPr lang="en-US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берутся</a:t>
            </a:r>
            <a:r>
              <a:rPr lang="en-US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из</a:t>
            </a:r>
            <a:r>
              <a:rPr lang="en-US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34 </a:t>
            </a:r>
            <a:r>
              <a:rPr lang="en-US" sz="15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реальных</a:t>
            </a:r>
            <a:r>
              <a:rPr lang="en-US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5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эталонных</a:t>
            </a:r>
            <a:r>
              <a:rPr lang="en-US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проектов</a:t>
            </a:r>
            <a:r>
              <a:rPr lang="en-US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, а </a:t>
            </a:r>
            <a:r>
              <a:rPr lang="en-US" sz="15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координаты</a:t>
            </a:r>
            <a:r>
              <a:rPr lang="en-US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500" dirty="0" err="1">
                <a:solidFill>
                  <a:srgbClr val="1C1D1A"/>
                </a:solidFill>
              </a:rPr>
              <a:t>расчитывает</a:t>
            </a:r>
            <a:r>
              <a:rPr lang="en-US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детерминированный</a:t>
            </a:r>
            <a:r>
              <a:rPr lang="en-US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алгоритм</a:t>
            </a:r>
            <a:r>
              <a:rPr lang="en-US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с </a:t>
            </a:r>
            <a:r>
              <a:rPr lang="en-US" sz="15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проверкой</a:t>
            </a:r>
            <a:r>
              <a:rPr lang="en-US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норм</a:t>
            </a:r>
            <a:r>
              <a:rPr lang="en-US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в </a:t>
            </a:r>
            <a:r>
              <a:rPr lang="en-US" sz="15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каждой</a:t>
            </a:r>
            <a:r>
              <a:rPr lang="en-US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точке</a:t>
            </a:r>
            <a:r>
              <a:rPr lang="en-US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— у </a:t>
            </a:r>
            <a:r>
              <a:rPr lang="ru-RU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каждой </a:t>
            </a:r>
            <a:r>
              <a:rPr lang="en-US" sz="15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новой</a:t>
            </a:r>
            <a:r>
              <a:rPr lang="en-US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посадки</a:t>
            </a:r>
            <a:r>
              <a:rPr lang="en-US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0 </a:t>
            </a:r>
            <a:r>
              <a:rPr lang="en-US" sz="15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нарушений</a:t>
            </a:r>
            <a:r>
              <a:rPr lang="en-US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. LLM </a:t>
            </a:r>
            <a:r>
              <a:rPr lang="en-US" sz="15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объясняет</a:t>
            </a:r>
            <a:r>
              <a:rPr lang="en-US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решения</a:t>
            </a:r>
            <a:r>
              <a:rPr lang="en-US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и п</a:t>
            </a:r>
            <a:r>
              <a:rPr lang="ru-RU" sz="15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рин</a:t>
            </a:r>
            <a:r>
              <a:rPr lang="en-US" sz="15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имает</a:t>
            </a:r>
            <a:r>
              <a:rPr lang="en-US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правк</a:t>
            </a:r>
            <a:r>
              <a:rPr lang="ru-RU" sz="1500" dirty="0">
                <a:solidFill>
                  <a:srgbClr val="1C1D1A"/>
                </a:solidFill>
              </a:rPr>
              <a:t>и, с помощью текста</a:t>
            </a:r>
            <a:r>
              <a:rPr lang="en-US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502920" y="1325880"/>
            <a:ext cx="3703320" cy="48920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 cap="flat" cmpd="sng">
            <a:solidFill>
              <a:srgbClr val="CFE3D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43329A-7F38-97F8-57F5-53C7E2AEB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2944" y="1457723"/>
            <a:ext cx="1675911" cy="2094890"/>
          </a:xfrm>
          <a:prstGeom prst="rect">
            <a:avLst/>
          </a:prstGeom>
        </p:spPr>
      </p:pic>
      <p:pic>
        <p:nvPicPr>
          <p:cNvPr id="50" name="Google Shape;50;p5" descr="/private/tmp/claude-501/-Users-kornilovartemiy-Desktop-GreenCity/740c8ec2-4d0c-4b8c-ad15-1185ccf47af5/scratchpad/deck/assets/org_dark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69480" y="384048"/>
            <a:ext cx="4434840" cy="2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5"/>
          <p:cNvSpPr txBox="1"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02920" y="320040"/>
            <a:ext cx="2286000" cy="603504"/>
          </a:xfrm>
          <a:prstGeom prst="roundRect">
            <a:avLst>
              <a:gd name="adj" fmla="val 18182"/>
            </a:avLst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 txBox="1"/>
          <p:nvPr/>
        </p:nvSpPr>
        <p:spPr>
          <a:xfrm>
            <a:off x="502920" y="320040"/>
            <a:ext cx="2286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 КОМАНДЕ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613495" y="3108960"/>
            <a:ext cx="1830832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2600"/>
              <a:buFont typeface="Arial"/>
              <a:buNone/>
            </a:pPr>
            <a:r>
              <a:rPr lang="en-US" sz="2400" b="1" i="0" u="none" strike="noStrike" cap="none" dirty="0" err="1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Артемий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2600"/>
              <a:buFont typeface="Arial"/>
              <a:buNone/>
            </a:pPr>
            <a:r>
              <a:rPr lang="en-US" sz="2400" b="1" i="0" u="none" strike="noStrike" cap="none" dirty="0" err="1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Корнилов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641435" y="3954949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400"/>
              <a:buFont typeface="Arial"/>
              <a:buNone/>
            </a:pPr>
            <a:r>
              <a:rPr lang="en-US" sz="1400" b="1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Капитан</a:t>
            </a:r>
            <a:r>
              <a:rPr lang="en-US" sz="1400" b="1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команды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641435" y="4334256"/>
            <a:ext cx="310896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Тимлид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600"/>
              </a:spcBef>
              <a:spcAft>
                <a:spcPts val="0"/>
              </a:spcAft>
              <a:buClr>
                <a:srgbClr val="1C1D1A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Бэкенд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и AI-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разработка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600"/>
              </a:spcBef>
              <a:spcAft>
                <a:spcPts val="0"/>
              </a:spcAft>
              <a:buClr>
                <a:srgbClr val="1C1D1A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Фронтенд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7982712" y="1275215"/>
            <a:ext cx="3703320" cy="48920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 cap="flat" cmpd="sng">
            <a:solidFill>
              <a:srgbClr val="CFE3D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39582" y="1837030"/>
            <a:ext cx="486461" cy="48646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"/>
          <p:cNvSpPr txBox="1"/>
          <p:nvPr/>
        </p:nvSpPr>
        <p:spPr>
          <a:xfrm>
            <a:off x="8253374" y="3409696"/>
            <a:ext cx="31089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2600"/>
              <a:buFont typeface="Arial"/>
              <a:buNone/>
            </a:pPr>
            <a:r>
              <a:rPr lang="en-US" sz="2400" b="1" i="0" u="none" strike="noStrike" cap="none" dirty="0" err="1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Константин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2600"/>
              <a:buFont typeface="Arial"/>
              <a:buNone/>
            </a:pPr>
            <a:r>
              <a:rPr lang="en-US" sz="2400" b="1" i="0" u="none" strike="noStrike" cap="none" dirty="0" err="1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Жадько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8259775" y="4143925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Участник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8266176" y="4506976"/>
            <a:ext cx="310896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Реверс-инжиниринг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600"/>
              </a:spcBef>
              <a:spcAft>
                <a:spcPts val="0"/>
              </a:spcAft>
              <a:buClr>
                <a:srgbClr val="1C1D1A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CAD- и GIS-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системы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600"/>
              </a:spcBef>
              <a:spcAft>
                <a:spcPts val="0"/>
              </a:spcAft>
              <a:buClr>
                <a:srgbClr val="1C1D1A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Бэкенд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600"/>
              </a:spcBef>
              <a:spcAft>
                <a:spcPts val="0"/>
              </a:spcAft>
              <a:buClr>
                <a:srgbClr val="1C1D1A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DevOps и SRE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5" descr="/private/tmp/claude-501/-Users-kornilovartemiy-Desktop-GreenCity/740c8ec2-4d0c-4b8c-ad15-1185ccf47af5/scratchpad/deck/assets/crow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81728" y="1600200"/>
            <a:ext cx="2834640" cy="23756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 txBox="1"/>
          <p:nvPr/>
        </p:nvSpPr>
        <p:spPr>
          <a:xfrm>
            <a:off x="4389120" y="4114800"/>
            <a:ext cx="341071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«Вороны»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4389120" y="4800600"/>
            <a:ext cx="341071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НИУ ВШЭ, МИЭМ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Москва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7E298D-F4AA-74CE-653F-96E9CB3EEB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9645" y="1328115"/>
            <a:ext cx="1534363" cy="20458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6" descr="/private/tmp/claude-501/-Users-kornilovartemiy-Desktop-GreenCity/740c8ec2-4d0c-4b8c-ad15-1185ccf47af5/scratchpad/deck/assets/org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9480" y="384048"/>
            <a:ext cx="4434840" cy="2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"/>
          <p:cNvSpPr txBox="1"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502920" y="320040"/>
            <a:ext cx="3383280" cy="603504"/>
          </a:xfrm>
          <a:prstGeom prst="roundRect">
            <a:avLst>
              <a:gd name="adj" fmla="val 18182"/>
            </a:avLst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6"/>
          <p:cNvSpPr txBox="1"/>
          <p:nvPr/>
        </p:nvSpPr>
        <p:spPr>
          <a:xfrm>
            <a:off x="502920" y="320040"/>
            <a:ext cx="33832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ИСТОРИЯ КОМАНДЫ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6"/>
          <p:cNvCxnSpPr/>
          <p:nvPr/>
        </p:nvCxnSpPr>
        <p:spPr>
          <a:xfrm>
            <a:off x="502920" y="1325880"/>
            <a:ext cx="11155680" cy="0"/>
          </a:xfrm>
          <a:prstGeom prst="straightConnector1">
            <a:avLst/>
          </a:prstGeom>
          <a:noFill/>
          <a:ln w="12700" cap="flat" cmpd="sng">
            <a:solidFill>
              <a:srgbClr val="009A4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" name="Google Shape;79;p6"/>
          <p:cNvSpPr txBox="1"/>
          <p:nvPr/>
        </p:nvSpPr>
        <p:spPr>
          <a:xfrm>
            <a:off x="502920" y="14630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К</a:t>
            </a:r>
            <a:r>
              <a:rPr lang="ru-RU" sz="2200" b="1" dirty="0">
                <a:solidFill>
                  <a:srgbClr val="007A34"/>
                </a:solidFill>
              </a:rPr>
              <a:t>то мы такие: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502920" y="1929384"/>
            <a:ext cx="996696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600"/>
              <a:buFont typeface="Arial"/>
              <a:buNone/>
            </a:pP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Команда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из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двух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разработчиков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с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разными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ролями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Артемий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отвечает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алгоритмы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, ИИ и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продукт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Константин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реальные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CAD/GIS-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данные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инфраструктуру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10744200" y="146304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6"/>
          <p:cNvCxnSpPr/>
          <p:nvPr/>
        </p:nvCxnSpPr>
        <p:spPr>
          <a:xfrm>
            <a:off x="502920" y="3108960"/>
            <a:ext cx="11155680" cy="0"/>
          </a:xfrm>
          <a:prstGeom prst="straightConnector1">
            <a:avLst/>
          </a:prstGeom>
          <a:noFill/>
          <a:ln w="12700" cap="flat" cmpd="sng">
            <a:solidFill>
              <a:srgbClr val="009A4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" name="Google Shape;83;p6"/>
          <p:cNvSpPr txBox="1"/>
          <p:nvPr/>
        </p:nvSpPr>
        <p:spPr>
          <a:xfrm>
            <a:off x="502920" y="32461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П</a:t>
            </a:r>
            <a:r>
              <a:rPr lang="ru-RU" sz="2200" b="1" i="0" u="none" strike="noStrike" cap="none" dirty="0" err="1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ричина</a:t>
            </a:r>
            <a:r>
              <a:rPr lang="ru-RU" sz="2200" b="1" i="0" u="none" strike="noStrike" cap="none" dirty="0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 выбора проекта: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502920" y="3712464"/>
            <a:ext cx="996696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600"/>
              <a:buFont typeface="Arial"/>
              <a:buNone/>
            </a:pP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Настоящие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чертежи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Мосгеотреста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жёсткие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нормы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проверяемый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результат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каждое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дерево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либо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проходит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по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отступам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либо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нет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Такую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задачу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не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решить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в лоб, без учёта множества факторов 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нужен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600" dirty="0">
                <a:solidFill>
                  <a:srgbClr val="1C1D1A"/>
                </a:solidFill>
              </a:rPr>
              <a:t>строгий и продуманный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600" dirty="0">
                <a:solidFill>
                  <a:srgbClr val="1C1D1A"/>
                </a:solidFill>
              </a:rPr>
              <a:t>алгоритм.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10744200" y="32461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6"/>
          <p:cNvCxnSpPr/>
          <p:nvPr/>
        </p:nvCxnSpPr>
        <p:spPr>
          <a:xfrm>
            <a:off x="502920" y="4855464"/>
            <a:ext cx="11155680" cy="0"/>
          </a:xfrm>
          <a:prstGeom prst="straightConnector1">
            <a:avLst/>
          </a:prstGeom>
          <a:noFill/>
          <a:ln w="12700" cap="flat" cmpd="sng">
            <a:solidFill>
              <a:srgbClr val="009A4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p6"/>
          <p:cNvSpPr txBox="1"/>
          <p:nvPr/>
        </p:nvSpPr>
        <p:spPr>
          <a:xfrm>
            <a:off x="533400" y="5042069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7A34"/>
              </a:buClr>
              <a:buSzPts val="2200"/>
            </a:pPr>
            <a:r>
              <a:rPr lang="ru-RU" sz="2200" b="1" dirty="0">
                <a:solidFill>
                  <a:srgbClr val="007A34"/>
                </a:solidFill>
                <a:sym typeface="Calibri"/>
              </a:rPr>
              <a:t>Трудности при разработке и их решения</a:t>
            </a:r>
            <a:endParaRPr sz="2200" b="1" dirty="0">
              <a:solidFill>
                <a:srgbClr val="007A34"/>
              </a:solidFill>
              <a:sym typeface="Calibri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502919" y="5495544"/>
            <a:ext cx="1086581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Реальные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DWG —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сотни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слоёв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разные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600" dirty="0" err="1">
                <a:solidFill>
                  <a:srgbClr val="1C1D1A"/>
                </a:solidFill>
              </a:rPr>
              <a:t>маштабы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разбор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по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ключевым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словам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параллельная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конвертация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lang="ru-RU" sz="1600" b="0" i="0" u="none" strike="noStrike" cap="none" dirty="0">
              <a:solidFill>
                <a:srgbClr val="1C1D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LLM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ошибается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в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геометрии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модели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оставили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намерение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координаты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считает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планировщик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lang="ru-RU" sz="1600" b="0" i="0" u="none" strike="noStrike" cap="none" dirty="0">
              <a:solidFill>
                <a:srgbClr val="1C1D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Мало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реальных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проектов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добавили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эталонные</a:t>
            </a:r>
            <a:r>
              <a:rPr lang="en-US" sz="16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10744200" y="50292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7" descr="/private/tmp/claude-501/-Users-kornilovartemiy-Desktop-GreenCity/740c8ec2-4d0c-4b8c-ad15-1185ccf47af5/scratchpad/deck/assets/org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9480" y="384048"/>
            <a:ext cx="4434840" cy="2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"/>
          <p:cNvSpPr txBox="1"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FE3D4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CFE3D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02920" y="320040"/>
            <a:ext cx="3749040" cy="603504"/>
          </a:xfrm>
          <a:prstGeom prst="roundRect">
            <a:avLst>
              <a:gd name="adj" fmla="val 18182"/>
            </a:avLst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7"/>
          <p:cNvSpPr txBox="1"/>
          <p:nvPr/>
        </p:nvSpPr>
        <p:spPr>
          <a:xfrm>
            <a:off x="502920" y="320040"/>
            <a:ext cx="374904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КОРОТКО О РЕШЕНИИ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02920" y="1325880"/>
            <a:ext cx="5440680" cy="4892040"/>
          </a:xfrm>
          <a:prstGeom prst="roundRect">
            <a:avLst>
              <a:gd name="adj" fmla="val 3364"/>
            </a:avLst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7"/>
          <p:cNvSpPr txBox="1"/>
          <p:nvPr/>
        </p:nvSpPr>
        <p:spPr>
          <a:xfrm>
            <a:off x="868680" y="155448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2200"/>
              <a:buFont typeface="Arial"/>
              <a:buNone/>
            </a:pPr>
            <a:r>
              <a:rPr lang="en-US" sz="2200" b="1" i="0" u="none" strike="noStrike" cap="none" dirty="0" err="1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Техническ</a:t>
            </a:r>
            <a:r>
              <a:rPr lang="ru-RU" sz="2200" b="1" dirty="0" err="1">
                <a:solidFill>
                  <a:srgbClr val="007A34"/>
                </a:solidFill>
              </a:rPr>
              <a:t>ие</a:t>
            </a:r>
            <a:r>
              <a:rPr lang="en-US" sz="2200" b="1" i="0" u="none" strike="noStrike" cap="none" dirty="0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200" b="1" dirty="0">
                <a:solidFill>
                  <a:srgbClr val="007A34"/>
                </a:solidFill>
              </a:rPr>
              <a:t>решения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868680" y="2194560"/>
            <a:ext cx="475488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Разбор DXF и папок DWG: границы, здания, сети, дорожки, существующие посадки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1000"/>
              </a:spcBef>
              <a:spcAft>
                <a:spcPts val="0"/>
              </a:spcAft>
              <a:buClr>
                <a:srgbClr val="1C1D1A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Карта ограничений: отступы по СП 42, 743-ПП, МГСН 1.02-02, СП 82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1000"/>
              </a:spcBef>
              <a:spcAft>
                <a:spcPts val="0"/>
              </a:spcAft>
              <a:buClr>
                <a:srgbClr val="1C1D1A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GreenPlan: поиск похожих проектов, стиль участка, приём для каждой зоны, расстановка с проверкой норм в каждой точке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1000"/>
              </a:spcBef>
              <a:spcAft>
                <a:spcPts val="0"/>
              </a:spcAft>
              <a:buClr>
                <a:srgbClr val="1C1D1A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Экспорт DXF: посадка на слоях NEW_TREE / NEW_BUSH / NEW_LAWN, записка DOCX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1000"/>
              </a:spcBef>
              <a:spcAft>
                <a:spcPts val="0"/>
              </a:spcAft>
              <a:buClr>
                <a:srgbClr val="1C1D1A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ИИ-ассистент: правки текстом на русском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172200" y="1325880"/>
            <a:ext cx="5440680" cy="4892040"/>
          </a:xfrm>
          <a:prstGeom prst="roundRect">
            <a:avLst>
              <a:gd name="adj" fmla="val 3364"/>
            </a:avLst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7"/>
          <p:cNvSpPr txBox="1"/>
          <p:nvPr/>
        </p:nvSpPr>
        <p:spPr>
          <a:xfrm>
            <a:off x="6537960" y="155448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2200"/>
              <a:buFont typeface="Arial"/>
              <a:buNone/>
            </a:pPr>
            <a:r>
              <a:rPr lang="en-US" sz="2200" b="1" i="0" u="none" strike="noStrike" cap="none" dirty="0" err="1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Ценность</a:t>
            </a:r>
            <a:r>
              <a:rPr lang="en-US" sz="2200" b="1" i="0" u="none" strike="noStrike" cap="none" dirty="0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2200" b="1" i="0" u="none" strike="noStrike" cap="none" dirty="0" err="1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внедрение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6537960" y="2194560"/>
            <a:ext cx="4754880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Автоматизац</a:t>
            </a:r>
            <a:r>
              <a:rPr lang="ru-RU" dirty="0">
                <a:solidFill>
                  <a:srgbClr val="1C1D1A"/>
                </a:solidFill>
              </a:rPr>
              <a:t>ия процесса озеленения в городской среде.</a:t>
            </a: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400"/>
              <a:buFont typeface="Arial"/>
              <a:buChar char="•"/>
            </a:pPr>
            <a:endParaRPr lang="ru-RU" sz="1400" b="0" i="0" u="none" strike="noStrike" cap="none" dirty="0">
              <a:solidFill>
                <a:srgbClr val="1C1D1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Одни</a:t>
            </a:r>
            <a:r>
              <a:rPr lang="en-US" sz="14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4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те</a:t>
            </a:r>
            <a:r>
              <a:rPr lang="en-US" sz="14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же</a:t>
            </a:r>
            <a:r>
              <a:rPr lang="en-US" sz="14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нормы</a:t>
            </a:r>
            <a:r>
              <a:rPr lang="en-US" sz="14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для</a:t>
            </a:r>
            <a:r>
              <a:rPr lang="en-US" sz="14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всех</a:t>
            </a:r>
            <a:r>
              <a:rPr lang="en-US" sz="14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проектов</a:t>
            </a:r>
            <a:r>
              <a:rPr lang="en-US" sz="14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lang="en-US" sz="14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меньше</a:t>
            </a:r>
            <a:r>
              <a:rPr lang="en-US" sz="14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ошибок</a:t>
            </a:r>
            <a:r>
              <a:rPr lang="en-US" sz="14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4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повторных</a:t>
            </a:r>
            <a:r>
              <a:rPr lang="en-US" sz="14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согласований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1000"/>
              </a:spcBef>
              <a:spcAft>
                <a:spcPts val="0"/>
              </a:spcAft>
              <a:buClr>
                <a:srgbClr val="1C1D1A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Результат</a:t>
            </a:r>
            <a:r>
              <a:rPr lang="en-US" sz="14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открывается</a:t>
            </a:r>
            <a:r>
              <a:rPr lang="en-US" sz="14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в CAD </a:t>
            </a:r>
            <a:r>
              <a:rPr lang="en-US" sz="14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без</a:t>
            </a:r>
            <a:r>
              <a:rPr lang="en-US" sz="14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конвертации</a:t>
            </a:r>
            <a:r>
              <a:rPr lang="en-US" sz="14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: DXF, </a:t>
            </a:r>
            <a:r>
              <a:rPr lang="en-US" sz="14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слои</a:t>
            </a:r>
            <a:r>
              <a:rPr lang="en-US" sz="14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включаются</a:t>
            </a:r>
            <a:r>
              <a:rPr lang="en-US" sz="14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отдельно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1000"/>
              </a:spcBef>
              <a:spcAft>
                <a:spcPts val="0"/>
              </a:spcAft>
              <a:buClr>
                <a:srgbClr val="1C1D1A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Полностью готов к реальному использованию</a:t>
            </a:r>
            <a:r>
              <a:rPr lang="en-US" sz="14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: Docker, Linux, Swagger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8" descr="/private/tmp/claude-501/-Users-kornilovartemiy-Desktop-GreenCity/740c8ec2-4d0c-4b8c-ad15-1185ccf47af5/scratchpad/deck/assets/org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9480" y="384048"/>
            <a:ext cx="4434840" cy="2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8"/>
          <p:cNvSpPr txBox="1"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502920" y="320040"/>
            <a:ext cx="2103120" cy="603504"/>
          </a:xfrm>
          <a:prstGeom prst="roundRect">
            <a:avLst>
              <a:gd name="adj" fmla="val 18182"/>
            </a:avLst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8"/>
          <p:cNvSpPr txBox="1"/>
          <p:nvPr/>
        </p:nvSpPr>
        <p:spPr>
          <a:xfrm>
            <a:off x="502920" y="320040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ПРОБЛЕМА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 txBox="1"/>
          <p:nvPr/>
        </p:nvSpPr>
        <p:spPr>
          <a:xfrm>
            <a:off x="502920" y="1280160"/>
            <a:ext cx="60350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Озеленение проектируют вручную — на фоне плотной застройки и густой сети подземных коммуникаций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502920" y="2926080"/>
            <a:ext cx="658368" cy="658368"/>
          </a:xfrm>
          <a:prstGeom prst="ellipse">
            <a:avLst/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" name="Google Shape;116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761" y="3070921"/>
            <a:ext cx="368686" cy="36868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8"/>
          <p:cNvSpPr txBox="1"/>
          <p:nvPr/>
        </p:nvSpPr>
        <p:spPr>
          <a:xfrm>
            <a:off x="1371600" y="292608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Ошибка в отступе — риск повредить кабель или трубу при посадке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502920" y="3950208"/>
            <a:ext cx="658368" cy="658368"/>
          </a:xfrm>
          <a:prstGeom prst="ellipse">
            <a:avLst/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9" name="Google Shape;119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7761" y="4095049"/>
            <a:ext cx="368686" cy="36868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8"/>
          <p:cNvSpPr txBox="1"/>
          <p:nvPr/>
        </p:nvSpPr>
        <p:spPr>
          <a:xfrm>
            <a:off x="1371600" y="3950208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Проектировщик сверяет нормы на глаз: долго и зависит от опыта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502920" y="4974336"/>
            <a:ext cx="658368" cy="658368"/>
          </a:xfrm>
          <a:prstGeom prst="ellipse">
            <a:avLst/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" name="Google Shape;122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7761" y="5119177"/>
            <a:ext cx="368686" cy="36868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8"/>
          <p:cNvSpPr txBox="1"/>
          <p:nvPr/>
        </p:nvSpPr>
        <p:spPr>
          <a:xfrm>
            <a:off x="1371600" y="4974336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500"/>
              <a:buFont typeface="Arial"/>
              <a:buNone/>
            </a:pPr>
            <a:r>
              <a:rPr lang="ru-RU" sz="15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Невозможность масштабирования из-за ручного процесса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7040880" y="1325880"/>
            <a:ext cx="4617720" cy="4892040"/>
          </a:xfrm>
          <a:prstGeom prst="roundRect">
            <a:avLst>
              <a:gd name="adj" fmla="val 3960"/>
            </a:avLst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"/>
          <p:cNvSpPr txBox="1"/>
          <p:nvPr/>
        </p:nvSpPr>
        <p:spPr>
          <a:xfrm>
            <a:off x="7406640" y="16002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 чём преимущество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GreenCity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7406640" y="2240280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7406640" y="29260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F9DE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D7F9DE"/>
                </a:solidFill>
                <a:latin typeface="Arial"/>
                <a:ea typeface="Arial"/>
                <a:cs typeface="Arial"/>
                <a:sym typeface="Arial"/>
              </a:rPr>
              <a:t>нарушений норм у новой посадки на тестовых участках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7406640" y="3520440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2,1 с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 txBox="1"/>
          <p:nvPr/>
        </p:nvSpPr>
        <p:spPr>
          <a:xfrm>
            <a:off x="7406640" y="420624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F9DE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D7F9DE"/>
                </a:solidFill>
                <a:latin typeface="Arial"/>
                <a:ea typeface="Arial"/>
                <a:cs typeface="Arial"/>
                <a:sym typeface="Arial"/>
              </a:rPr>
              <a:t>проект озеленения участка 5,4 га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7406640" y="4800600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DXF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7406640" y="548640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F9DE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D7F9DE"/>
                </a:solidFill>
                <a:latin typeface="Arial"/>
                <a:ea typeface="Arial"/>
                <a:cs typeface="Arial"/>
                <a:sym typeface="Arial"/>
              </a:rPr>
              <a:t>результат сразу в формате проектировщика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9" descr="/private/tmp/claude-501/-Users-kornilovartemiy-Desktop-GreenCity/740c8ec2-4d0c-4b8c-ad15-1185ccf47af5/scratchpad/deck/assets/org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9480" y="384048"/>
            <a:ext cx="4434840" cy="2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9"/>
          <p:cNvSpPr txBox="1"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502920" y="320040"/>
            <a:ext cx="3200400" cy="603504"/>
          </a:xfrm>
          <a:prstGeom prst="roundRect">
            <a:avLst>
              <a:gd name="adj" fmla="val 18182"/>
            </a:avLst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9"/>
          <p:cNvSpPr txBox="1"/>
          <p:nvPr/>
        </p:nvSpPr>
        <p:spPr>
          <a:xfrm>
            <a:off x="502920" y="320040"/>
            <a:ext cx="32004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СХЕМА ПРОЦЕССА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 txBox="1"/>
          <p:nvPr/>
        </p:nvSpPr>
        <p:spPr>
          <a:xfrm>
            <a:off x="502920" y="11887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Пайплайн DXF → DXF: каждый шаг детерминирован и воспроизводим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502920" y="1965960"/>
            <a:ext cx="1664208" cy="3200400"/>
          </a:xfrm>
          <a:prstGeom prst="roundRect">
            <a:avLst>
              <a:gd name="adj" fmla="val 9890"/>
            </a:avLst>
          </a:prstGeom>
          <a:solidFill>
            <a:srgbClr val="FFFFFF"/>
          </a:solidFill>
          <a:ln w="12700" cap="flat" cmpd="sng">
            <a:solidFill>
              <a:srgbClr val="CFE3D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969264" y="2240280"/>
            <a:ext cx="731520" cy="731520"/>
          </a:xfrm>
          <a:prstGeom prst="ellipse">
            <a:avLst/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4" name="Google Shape;144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0198" y="2401214"/>
            <a:ext cx="409651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9"/>
          <p:cNvSpPr txBox="1"/>
          <p:nvPr/>
        </p:nvSpPr>
        <p:spPr>
          <a:xfrm>
            <a:off x="594360" y="3063240"/>
            <a:ext cx="14813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1. Вход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 txBox="1"/>
          <p:nvPr/>
        </p:nvSpPr>
        <p:spPr>
          <a:xfrm>
            <a:off x="594360" y="3657600"/>
            <a:ext cx="1481328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DXF или папка DWG (конвертация в DXF)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76272" y="34107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9"/>
          <p:cNvSpPr/>
          <p:nvPr/>
        </p:nvSpPr>
        <p:spPr>
          <a:xfrm>
            <a:off x="2404872" y="1965960"/>
            <a:ext cx="1664208" cy="3200400"/>
          </a:xfrm>
          <a:prstGeom prst="roundRect">
            <a:avLst>
              <a:gd name="adj" fmla="val 9890"/>
            </a:avLst>
          </a:prstGeom>
          <a:solidFill>
            <a:srgbClr val="FFFFFF"/>
          </a:solidFill>
          <a:ln w="12700" cap="flat" cmpd="sng">
            <a:solidFill>
              <a:srgbClr val="CFE3D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2871216" y="2240280"/>
            <a:ext cx="731520" cy="731520"/>
          </a:xfrm>
          <a:prstGeom prst="ellipse">
            <a:avLst/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0" name="Google Shape;150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32150" y="2401214"/>
            <a:ext cx="409651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9"/>
          <p:cNvSpPr txBox="1"/>
          <p:nvPr/>
        </p:nvSpPr>
        <p:spPr>
          <a:xfrm>
            <a:off x="2496312" y="3063240"/>
            <a:ext cx="14813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2. Разбор слоёв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2496312" y="3657600"/>
            <a:ext cx="1481328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Границы, здания, дороги, сети, посадки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78224" y="34107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/>
          <p:nvPr/>
        </p:nvSpPr>
        <p:spPr>
          <a:xfrm>
            <a:off x="4306824" y="1965960"/>
            <a:ext cx="1664208" cy="3200400"/>
          </a:xfrm>
          <a:prstGeom prst="roundRect">
            <a:avLst>
              <a:gd name="adj" fmla="val 9890"/>
            </a:avLst>
          </a:prstGeom>
          <a:solidFill>
            <a:srgbClr val="FFFFFF"/>
          </a:solidFill>
          <a:ln w="12700" cap="flat" cmpd="sng">
            <a:solidFill>
              <a:srgbClr val="CFE3D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4773168" y="2240280"/>
            <a:ext cx="731520" cy="731520"/>
          </a:xfrm>
          <a:prstGeom prst="ellipse">
            <a:avLst/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" name="Google Shape;156;p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934102" y="2401214"/>
            <a:ext cx="409651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9"/>
          <p:cNvSpPr txBox="1"/>
          <p:nvPr/>
        </p:nvSpPr>
        <p:spPr>
          <a:xfrm>
            <a:off x="4398264" y="3063240"/>
            <a:ext cx="14813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3. Карта ограничений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4398264" y="3657600"/>
            <a:ext cx="1481328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Отступы по нормам вокруг каждой зоны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80176" y="34107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/>
          <p:nvPr/>
        </p:nvSpPr>
        <p:spPr>
          <a:xfrm>
            <a:off x="6208776" y="1965960"/>
            <a:ext cx="1664208" cy="3200400"/>
          </a:xfrm>
          <a:prstGeom prst="roundRect">
            <a:avLst>
              <a:gd name="adj" fmla="val 9890"/>
            </a:avLst>
          </a:prstGeom>
          <a:solidFill>
            <a:srgbClr val="EEF7F0"/>
          </a:solidFill>
          <a:ln w="12700" cap="flat" cmpd="sng">
            <a:solidFill>
              <a:srgbClr val="CFE3D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6675120" y="2240280"/>
            <a:ext cx="731520" cy="731520"/>
          </a:xfrm>
          <a:prstGeom prst="ellipse">
            <a:avLst/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2" name="Google Shape;162;p9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836054" y="2401214"/>
            <a:ext cx="409651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9"/>
          <p:cNvSpPr txBox="1"/>
          <p:nvPr/>
        </p:nvSpPr>
        <p:spPr>
          <a:xfrm>
            <a:off x="6300216" y="3063240"/>
            <a:ext cx="14813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4. Решение по аналогам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6300216" y="3657600"/>
            <a:ext cx="1481328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Похожие проекты → стиль → приём для зоны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82128" y="34107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9"/>
          <p:cNvSpPr/>
          <p:nvPr/>
        </p:nvSpPr>
        <p:spPr>
          <a:xfrm>
            <a:off x="8110728" y="1965960"/>
            <a:ext cx="1664208" cy="3200400"/>
          </a:xfrm>
          <a:prstGeom prst="roundRect">
            <a:avLst>
              <a:gd name="adj" fmla="val 9890"/>
            </a:avLst>
          </a:prstGeom>
          <a:solidFill>
            <a:srgbClr val="EEF7F0"/>
          </a:solidFill>
          <a:ln w="12700" cap="flat" cmpd="sng">
            <a:solidFill>
              <a:srgbClr val="CFE3D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8577072" y="2240280"/>
            <a:ext cx="731520" cy="731520"/>
          </a:xfrm>
          <a:prstGeom prst="ellipse">
            <a:avLst/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8" name="Google Shape;168;p9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38006" y="2401214"/>
            <a:ext cx="409651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9"/>
          <p:cNvSpPr txBox="1"/>
          <p:nvPr/>
        </p:nvSpPr>
        <p:spPr>
          <a:xfrm>
            <a:off x="8202168" y="3063240"/>
            <a:ext cx="14813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5. Расстановка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 txBox="1"/>
          <p:nvPr/>
        </p:nvSpPr>
        <p:spPr>
          <a:xfrm>
            <a:off x="8202168" y="3657600"/>
            <a:ext cx="1481328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Ряды, рощи, заливка с проверкой норм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84080" y="34107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/>
          <p:nvPr/>
        </p:nvSpPr>
        <p:spPr>
          <a:xfrm>
            <a:off x="10012680" y="1965960"/>
            <a:ext cx="1664208" cy="3200400"/>
          </a:xfrm>
          <a:prstGeom prst="roundRect">
            <a:avLst>
              <a:gd name="adj" fmla="val 9890"/>
            </a:avLst>
          </a:prstGeom>
          <a:solidFill>
            <a:srgbClr val="FFFFFF"/>
          </a:solidFill>
          <a:ln w="12700" cap="flat" cmpd="sng">
            <a:solidFill>
              <a:srgbClr val="CFE3D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10479024" y="2240280"/>
            <a:ext cx="731520" cy="731520"/>
          </a:xfrm>
          <a:prstGeom prst="ellipse">
            <a:avLst/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4" name="Google Shape;174;p9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639958" y="2401214"/>
            <a:ext cx="409651" cy="40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9"/>
          <p:cNvSpPr txBox="1"/>
          <p:nvPr/>
        </p:nvSpPr>
        <p:spPr>
          <a:xfrm>
            <a:off x="10104120" y="3063240"/>
            <a:ext cx="14813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6. Выход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10104120" y="3657600"/>
            <a:ext cx="1481328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DXF </a:t>
            </a:r>
            <a:r>
              <a:rPr lang="en-US" sz="13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со</a:t>
            </a:r>
            <a:r>
              <a:rPr lang="en-US" sz="13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слоями</a:t>
            </a:r>
            <a:r>
              <a:rPr lang="en-US" sz="13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NEW_* и </a:t>
            </a:r>
            <a:r>
              <a:rPr lang="ru-RU" sz="13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пояснительная </a:t>
            </a:r>
            <a:r>
              <a:rPr lang="en-US" sz="1300" b="0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записка</a:t>
            </a:r>
            <a:r>
              <a:rPr lang="en-US" sz="1300" b="0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с НПА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02920" y="5440680"/>
            <a:ext cx="11155680" cy="868680"/>
          </a:xfrm>
          <a:prstGeom prst="roundRect">
            <a:avLst>
              <a:gd name="adj" fmla="val 14737"/>
            </a:avLst>
          </a:prstGeom>
          <a:solidFill>
            <a:srgbClr val="14532F"/>
          </a:solidFill>
          <a:ln w="12700" cap="flat" cmpd="sng">
            <a:solidFill>
              <a:srgbClr val="1453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"/>
          <p:cNvSpPr txBox="1"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F9DE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D7F9DE"/>
                </a:solidFill>
                <a:latin typeface="Arial"/>
                <a:ea typeface="Arial"/>
                <a:cs typeface="Arial"/>
                <a:sym typeface="Arial"/>
              </a:rPr>
              <a:t>Главный принцип: </a:t>
            </a: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 не ставит точки. Координаты и проверку норм выполняет геометрический планировщик; модель только понимает просьбы и пересказывает решения.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0" descr="/private/tmp/claude-501/-Users-kornilovartemiy-Desktop-GreenCity/740c8ec2-4d0c-4b8c-ad15-1185ccf47af5/scratchpad/deck/assets/org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9480" y="384048"/>
            <a:ext cx="4434840" cy="2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 txBox="1"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FE3D4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CFE3D4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502920" y="320040"/>
            <a:ext cx="3931920" cy="603504"/>
          </a:xfrm>
          <a:prstGeom prst="roundRect">
            <a:avLst>
              <a:gd name="adj" fmla="val 18182"/>
            </a:avLst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0"/>
          <p:cNvSpPr txBox="1"/>
          <p:nvPr/>
        </p:nvSpPr>
        <p:spPr>
          <a:xfrm>
            <a:off x="502920" y="320040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АЛГОРИТМ GREENPLAN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502920" y="1325880"/>
            <a:ext cx="667512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0"/>
          <p:cNvSpPr txBox="1"/>
          <p:nvPr/>
        </p:nvSpPr>
        <p:spPr>
          <a:xfrm>
            <a:off x="731520" y="150876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1325880" y="149047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Похожие проекты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1325880" y="1874520"/>
            <a:ext cx="5669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Вектор</a:t>
            </a:r>
            <a:r>
              <a:rPr lang="en-US" sz="12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признаков</a:t>
            </a:r>
            <a:r>
              <a:rPr lang="en-US" sz="12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участка</a:t>
            </a:r>
            <a:r>
              <a:rPr lang="en-US" sz="12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2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площадь</a:t>
            </a:r>
            <a:r>
              <a:rPr lang="en-US" sz="12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доля</a:t>
            </a:r>
            <a:r>
              <a:rPr lang="en-US" sz="12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пригодной</a:t>
            </a:r>
            <a:r>
              <a:rPr lang="en-US" sz="12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земли</a:t>
            </a:r>
            <a:r>
              <a:rPr lang="en-US" sz="12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состав</a:t>
            </a:r>
            <a:r>
              <a:rPr lang="en-US" sz="12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ограничений</a:t>
            </a:r>
            <a:r>
              <a:rPr lang="en-US" sz="12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тип</a:t>
            </a:r>
            <a:r>
              <a:rPr lang="en-US" sz="12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территории</a:t>
            </a:r>
            <a:r>
              <a:rPr lang="en-US" sz="12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. k </a:t>
            </a:r>
            <a:r>
              <a:rPr lang="en-US" sz="12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ближайших</a:t>
            </a:r>
            <a:r>
              <a:rPr lang="en-US" sz="12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по</a:t>
            </a:r>
            <a:r>
              <a:rPr lang="en-US" sz="12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косинусному</a:t>
            </a:r>
            <a:r>
              <a:rPr lang="en-US" sz="12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сходству</a:t>
            </a:r>
            <a:r>
              <a:rPr lang="en-US" sz="12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из</a:t>
            </a:r>
            <a:r>
              <a:rPr lang="en-US" sz="12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34 </a:t>
            </a:r>
            <a:r>
              <a:rPr lang="en-US" sz="12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проектов</a:t>
            </a:r>
            <a:r>
              <a:rPr lang="en-US" sz="12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(14 </a:t>
            </a:r>
            <a:r>
              <a:rPr lang="en-US" sz="12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реальных</a:t>
            </a:r>
            <a:r>
              <a:rPr lang="en-US" sz="12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+ 20 </a:t>
            </a:r>
            <a:r>
              <a:rPr lang="en-US" sz="12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эталонных</a:t>
            </a:r>
            <a:r>
              <a:rPr lang="en-US" sz="12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502920" y="2999232"/>
            <a:ext cx="667512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"/>
          <p:cNvSpPr txBox="1"/>
          <p:nvPr/>
        </p:nvSpPr>
        <p:spPr>
          <a:xfrm>
            <a:off x="731520" y="3182112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 txBox="1"/>
          <p:nvPr/>
        </p:nvSpPr>
        <p:spPr>
          <a:xfrm>
            <a:off x="1325880" y="316382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Решение на участок, затем по зонам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1325880" y="3547872"/>
            <a:ext cx="5669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Стиль (регулярный или пейзажный) и ведущий аналог — голосованием похожих проектов. Затем приём для каждой зоны: у зданий, вдоль дорожек, край участка, открытые площади.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502920" y="4672584"/>
            <a:ext cx="667512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"/>
          <p:cNvSpPr txBox="1"/>
          <p:nvPr/>
        </p:nvSpPr>
        <p:spPr>
          <a:xfrm>
            <a:off x="731520" y="4855464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3400"/>
              <a:buFont typeface="Arial"/>
              <a:buNone/>
            </a:pPr>
            <a:r>
              <a:rPr lang="en-US" sz="34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1325880" y="4837176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Расстановка и виды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1325880" y="5221224"/>
            <a:ext cx="5669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Ряды, рощи, заливка. Виды — ассортимент Москвы для типа территории, приоритет 515-ПП, без инвазивных (369-ПП). Точка с нарушением нормы не ставится.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7498080" y="1325880"/>
            <a:ext cx="4160520" cy="4480560"/>
          </a:xfrm>
          <a:prstGeom prst="roundRect">
            <a:avLst>
              <a:gd name="adj" fmla="val 3956"/>
            </a:avLst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1" name="Google Shape;201;p10" descr="/private/tmp/claude-501/-Users-kornilovartemiy-Desktop-GreenCity/740c8ec2-4d0c-4b8c-ad15-1185ccf47af5/scratchpad/deck/assets/gp_panel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62672" y="1481328"/>
            <a:ext cx="3840480" cy="353977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0"/>
          <p:cNvSpPr txBox="1"/>
          <p:nvPr/>
        </p:nvSpPr>
        <p:spPr>
          <a:xfrm>
            <a:off x="7498080" y="589788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F9DE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D7F9DE"/>
                </a:solidFill>
                <a:latin typeface="Arial"/>
                <a:ea typeface="Arial"/>
                <a:cs typeface="Arial"/>
                <a:sym typeface="Arial"/>
              </a:rPr>
              <a:t>Панель GreenPlan на реальном участке: 0 нарушений, ведомость посадки по видам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1" descr="/private/tmp/claude-501/-Users-kornilovartemiy-Desktop-GreenCity/740c8ec2-4d0c-4b8c-ad15-1185ccf47af5/scratchpad/deck/assets/org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9480" y="384048"/>
            <a:ext cx="4434840" cy="2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1"/>
          <p:cNvSpPr txBox="1"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502920" y="320040"/>
            <a:ext cx="3200400" cy="603504"/>
          </a:xfrm>
          <a:prstGeom prst="roundRect">
            <a:avLst>
              <a:gd name="adj" fmla="val 18182"/>
            </a:avLst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1"/>
          <p:cNvSpPr txBox="1"/>
          <p:nvPr/>
        </p:nvSpPr>
        <p:spPr>
          <a:xfrm>
            <a:off x="502920" y="320040"/>
            <a:ext cx="32004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НОРМЫ И ДАННЫЕ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2" name="Google Shape;212;p11"/>
          <p:cNvGraphicFramePr/>
          <p:nvPr/>
        </p:nvGraphicFramePr>
        <p:xfrm>
          <a:off x="502920" y="1325880"/>
          <a:ext cx="7223750" cy="3968475"/>
        </p:xfrm>
        <a:graphic>
          <a:graphicData uri="http://schemas.openxmlformats.org/drawingml/2006/table">
            <a:tbl>
              <a:tblPr>
                <a:noFill/>
                <a:tableStyleId>{5BAECF92-EAFC-4E1C-952B-978A0C650F0C}</a:tableStyleId>
              </a:tblPr>
              <a:tblGrid>
                <a:gridCol w="265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Норматив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A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Что проверяется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A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Пример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A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D1A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1C1D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СП 42.13330.2016, табл. 9.1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D1A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1C1D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отступы от зданий, сетей, дорог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D1A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1C1D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водопровод — 2 м до дерева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D1A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1C1D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ППМ 743-ПП, табл. 3.6.1, прим. 3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D1A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1C1D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отступы; широкая крона у зданий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D1A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1C1D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липа, клён — 10 м от здания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D1A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1C1D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МГСН 1.02-02 (ППМ 623-ПП), п. 4.2.8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D1A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1C1D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породы у теплосетей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D1A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1C1D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не ближе 2 м к теплосети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D1A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1C1D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СП 82.13330.2016, п. 9.22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D1A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1C1D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колючие растения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D1A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1C1D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барбарис — 2 м от дорожек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D1A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1C1D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ППМ 515-ПП, ассортимент Москвы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D1A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1C1D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допустимые виды по типу территории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D1A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1C1D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базовый ассортимент — в приоритете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D1A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1C1D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ППМ 369-ПП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D1A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1C1D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инвазивные виды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1D1A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1C1D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исключены из каталога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FE3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3" name="Google Shape;213;p11"/>
          <p:cNvSpPr/>
          <p:nvPr/>
        </p:nvSpPr>
        <p:spPr>
          <a:xfrm>
            <a:off x="8092440" y="1325880"/>
            <a:ext cx="3566160" cy="4937760"/>
          </a:xfrm>
          <a:prstGeom prst="roundRect">
            <a:avLst>
              <a:gd name="adj" fmla="val 4615"/>
            </a:avLst>
          </a:prstGeom>
          <a:solidFill>
            <a:srgbClr val="14532F"/>
          </a:solidFill>
          <a:ln w="12700" cap="flat" cmpd="sng">
            <a:solidFill>
              <a:srgbClr val="1453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1"/>
          <p:cNvSpPr txBox="1"/>
          <p:nvPr/>
        </p:nvSpPr>
        <p:spPr>
          <a:xfrm>
            <a:off x="8366760" y="155448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Источники данных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 txBox="1"/>
          <p:nvPr/>
        </p:nvSpPr>
        <p:spPr>
          <a:xfrm>
            <a:off x="8366760" y="2103120"/>
            <a:ext cx="3108960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D7F9DE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D7F9DE"/>
                </a:solidFill>
                <a:latin typeface="Arial"/>
                <a:ea typeface="Arial"/>
                <a:cs typeface="Arial"/>
                <a:sym typeface="Arial"/>
              </a:rPr>
              <a:t>Реальные участки из набора кейса: DWG Мосгеотреста → DXF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1200"/>
              </a:spcBef>
              <a:spcAft>
                <a:spcPts val="0"/>
              </a:spcAft>
              <a:buClr>
                <a:srgbClr val="D7F9DE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D7F9DE"/>
                </a:solidFill>
                <a:latin typeface="Arial"/>
                <a:ea typeface="Arial"/>
                <a:cs typeface="Arial"/>
                <a:sym typeface="Arial"/>
              </a:rPr>
              <a:t>14 реальных проектов в корпусе аналогов + 20 эталонных с описанием замысла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1200"/>
              </a:spcBef>
              <a:spcAft>
                <a:spcPts val="0"/>
              </a:spcAft>
              <a:buClr>
                <a:srgbClr val="D7F9DE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D7F9DE"/>
                </a:solidFill>
                <a:latin typeface="Arial"/>
                <a:ea typeface="Arial"/>
                <a:cs typeface="Arial"/>
                <a:sym typeface="Arial"/>
              </a:rPr>
              <a:t>Каталог: 264 позиции, 220 видов растений с нормами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1200"/>
              </a:spcBef>
              <a:spcAft>
                <a:spcPts val="0"/>
              </a:spcAft>
              <a:buClr>
                <a:srgbClr val="D7F9DE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D7F9DE"/>
                </a:solidFill>
                <a:latin typeface="Arial"/>
                <a:ea typeface="Arial"/>
                <a:cs typeface="Arial"/>
                <a:sym typeface="Arial"/>
              </a:rPr>
              <a:t>Выписки 10 нормативных актов в репозитории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12" descr="/private/tmp/claude-501/-Users-kornilovartemiy-Desktop-GreenCity/740c8ec2-4d0c-4b8c-ad15-1185ccf47af5/scratchpad/deck/assets/org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9480" y="384048"/>
            <a:ext cx="4434840" cy="2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2"/>
          <p:cNvSpPr txBox="1"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502920" y="320040"/>
            <a:ext cx="2103120" cy="603504"/>
          </a:xfrm>
          <a:prstGeom prst="roundRect">
            <a:avLst>
              <a:gd name="adj" fmla="val 18182"/>
            </a:avLst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2"/>
          <p:cNvSpPr txBox="1"/>
          <p:nvPr/>
        </p:nvSpPr>
        <p:spPr>
          <a:xfrm>
            <a:off x="502920" y="320040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СЛОИ DXF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 txBox="1"/>
          <p:nvPr/>
        </p:nvSpPr>
        <p:spPr>
          <a:xfrm>
            <a:off x="502920" y="118872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Исходные слои переносятся без изменений, вся новая посадка — только на своих слоях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502920" y="1874520"/>
            <a:ext cx="5120640" cy="43891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 cap="flat" cmpd="sng">
            <a:solidFill>
              <a:srgbClr val="CFE3D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2"/>
          <p:cNvSpPr txBox="1"/>
          <p:nvPr/>
        </p:nvSpPr>
        <p:spPr>
          <a:xfrm>
            <a:off x="822960" y="21031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Исходные слои (24)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 txBox="1"/>
          <p:nvPr/>
        </p:nvSpPr>
        <p:spPr>
          <a:xfrm>
            <a:off x="822960" y="2606040"/>
            <a:ext cx="237744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5B6158"/>
                </a:solidFill>
                <a:latin typeface="Courier New"/>
                <a:ea typeface="Courier New"/>
                <a:cs typeface="Courier New"/>
                <a:sym typeface="Courier New"/>
              </a:rPr>
              <a:t>BOUNDARY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5B6158"/>
                </a:solidFill>
                <a:latin typeface="Courier New"/>
                <a:ea typeface="Courier New"/>
                <a:cs typeface="Courier New"/>
                <a:sym typeface="Courier New"/>
              </a:rPr>
              <a:t>BUILDING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5B6158"/>
                </a:solidFill>
                <a:latin typeface="Courier New"/>
                <a:ea typeface="Courier New"/>
                <a:cs typeface="Courier New"/>
                <a:sym typeface="Courier New"/>
              </a:rPr>
              <a:t>ROAD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5B6158"/>
                </a:solidFill>
                <a:latin typeface="Courier New"/>
                <a:ea typeface="Courier New"/>
                <a:cs typeface="Courier New"/>
                <a:sym typeface="Courier New"/>
              </a:rPr>
              <a:t>SIDEWALK_PATH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5B6158"/>
                </a:solidFill>
                <a:latin typeface="Courier New"/>
                <a:ea typeface="Courier New"/>
                <a:cs typeface="Courier New"/>
                <a:sym typeface="Courier New"/>
              </a:rPr>
              <a:t>WATER_PIPELINE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5B6158"/>
                </a:solidFill>
                <a:latin typeface="Courier New"/>
                <a:ea typeface="Courier New"/>
                <a:cs typeface="Courier New"/>
                <a:sym typeface="Courier New"/>
              </a:rPr>
              <a:t>GAS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5B6158"/>
                </a:solidFill>
                <a:latin typeface="Courier New"/>
                <a:ea typeface="Courier New"/>
                <a:cs typeface="Courier New"/>
                <a:sym typeface="Courier New"/>
              </a:rPr>
              <a:t>HEAT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5B6158"/>
                </a:solidFill>
                <a:latin typeface="Courier New"/>
                <a:ea typeface="Courier New"/>
                <a:cs typeface="Courier New"/>
                <a:sym typeface="Courier New"/>
              </a:rPr>
              <a:t>SEWER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5B6158"/>
                </a:solidFill>
                <a:latin typeface="Courier New"/>
                <a:ea typeface="Courier New"/>
                <a:cs typeface="Courier New"/>
                <a:sym typeface="Courier New"/>
              </a:rPr>
              <a:t>ELECTR_CABLE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5B6158"/>
                </a:solidFill>
                <a:latin typeface="Courier New"/>
                <a:ea typeface="Courier New"/>
                <a:cs typeface="Courier New"/>
                <a:sym typeface="Courier New"/>
              </a:rPr>
              <a:t>OVERHEAD_POWER_LINE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5B6158"/>
                </a:solidFill>
                <a:latin typeface="Courier New"/>
                <a:ea typeface="Courier New"/>
                <a:cs typeface="Courier New"/>
                <a:sym typeface="Courier New"/>
              </a:rPr>
              <a:t>TREE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5B6158"/>
                </a:solidFill>
                <a:latin typeface="Courier New"/>
                <a:ea typeface="Courier New"/>
                <a:cs typeface="Courier New"/>
                <a:sym typeface="Courier New"/>
              </a:rPr>
              <a:t>BUSH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5B6158"/>
                </a:solidFill>
                <a:latin typeface="Courier New"/>
                <a:ea typeface="Courier New"/>
                <a:cs typeface="Courier New"/>
                <a:sym typeface="Courier New"/>
              </a:rPr>
              <a:t>GRASS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5B6158"/>
                </a:solidFill>
                <a:latin typeface="Courier New"/>
                <a:ea typeface="Courier New"/>
                <a:cs typeface="Courier New"/>
                <a:sym typeface="Courier New"/>
              </a:rPr>
              <a:t>LAMP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5B6158"/>
                </a:solidFill>
                <a:latin typeface="Courier New"/>
                <a:ea typeface="Courier New"/>
                <a:cs typeface="Courier New"/>
                <a:sym typeface="Courier New"/>
              </a:rPr>
              <a:t>BENCH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100"/>
              <a:buFont typeface="Courier New"/>
              <a:buNone/>
            </a:pPr>
            <a:r>
              <a:rPr lang="en-US" sz="1100" b="0" i="0" u="none" strike="noStrike" cap="none">
                <a:solidFill>
                  <a:srgbClr val="5B6158"/>
                </a:solidFill>
                <a:latin typeface="Courier New"/>
                <a:ea typeface="Courier New"/>
                <a:cs typeface="Courier New"/>
                <a:sym typeface="Courier New"/>
              </a:rPr>
              <a:t>…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 txBox="1"/>
          <p:nvPr/>
        </p:nvSpPr>
        <p:spPr>
          <a:xfrm>
            <a:off x="3154680" y="2651760"/>
            <a:ext cx="22402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подоснова, коммуникации, городская среда — как в исходном чертеже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06440" y="37947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2"/>
          <p:cNvSpPr/>
          <p:nvPr/>
        </p:nvSpPr>
        <p:spPr>
          <a:xfrm>
            <a:off x="6537960" y="1874520"/>
            <a:ext cx="5120640" cy="4389120"/>
          </a:xfrm>
          <a:prstGeom prst="roundRect">
            <a:avLst>
              <a:gd name="adj" fmla="val 3750"/>
            </a:avLst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2"/>
          <p:cNvSpPr txBox="1"/>
          <p:nvPr/>
        </p:nvSpPr>
        <p:spPr>
          <a:xfrm>
            <a:off x="6858000" y="21031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Слои результата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6858000" y="2697480"/>
            <a:ext cx="4480560" cy="685800"/>
          </a:xfrm>
          <a:prstGeom prst="roundRect">
            <a:avLst>
              <a:gd name="adj" fmla="val 13333"/>
            </a:avLst>
          </a:prstGeom>
          <a:solidFill>
            <a:srgbClr val="1D6A3E"/>
          </a:solidFill>
          <a:ln w="12700" cap="flat" cmpd="sng">
            <a:solidFill>
              <a:srgbClr val="1D6A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2"/>
          <p:cNvSpPr txBox="1"/>
          <p:nvPr/>
        </p:nvSpPr>
        <p:spPr>
          <a:xfrm>
            <a:off x="7040880" y="269748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urier New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NEW_TREE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9052560" y="2697480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7F9DE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D7F9DE"/>
                </a:solidFill>
                <a:latin typeface="Arial"/>
                <a:ea typeface="Arial"/>
                <a:cs typeface="Arial"/>
                <a:sym typeface="Arial"/>
              </a:rPr>
              <a:t>215 деревьев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6858000" y="3566160"/>
            <a:ext cx="4480560" cy="685800"/>
          </a:xfrm>
          <a:prstGeom prst="roundRect">
            <a:avLst>
              <a:gd name="adj" fmla="val 13333"/>
            </a:avLst>
          </a:prstGeom>
          <a:solidFill>
            <a:srgbClr val="1D6A3E"/>
          </a:solidFill>
          <a:ln w="12700" cap="flat" cmpd="sng">
            <a:solidFill>
              <a:srgbClr val="1D6A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"/>
          <p:cNvSpPr txBox="1"/>
          <p:nvPr/>
        </p:nvSpPr>
        <p:spPr>
          <a:xfrm>
            <a:off x="7040880" y="356616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urier New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NEW_BUSH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 txBox="1"/>
          <p:nvPr/>
        </p:nvSpPr>
        <p:spPr>
          <a:xfrm>
            <a:off x="9052560" y="3566160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7F9DE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D7F9DE"/>
                </a:solidFill>
                <a:latin typeface="Arial"/>
                <a:ea typeface="Arial"/>
                <a:cs typeface="Arial"/>
                <a:sym typeface="Arial"/>
              </a:rPr>
              <a:t>469 кустарников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6858000" y="4434840"/>
            <a:ext cx="4480560" cy="685800"/>
          </a:xfrm>
          <a:prstGeom prst="roundRect">
            <a:avLst>
              <a:gd name="adj" fmla="val 13333"/>
            </a:avLst>
          </a:prstGeom>
          <a:solidFill>
            <a:srgbClr val="1D6A3E"/>
          </a:solidFill>
          <a:ln w="12700" cap="flat" cmpd="sng">
            <a:solidFill>
              <a:srgbClr val="1D6A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2"/>
          <p:cNvSpPr txBox="1"/>
          <p:nvPr/>
        </p:nvSpPr>
        <p:spPr>
          <a:xfrm>
            <a:off x="7040880" y="443484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urier New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NEW_LAWN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 txBox="1"/>
          <p:nvPr/>
        </p:nvSpPr>
        <p:spPr>
          <a:xfrm>
            <a:off x="9052560" y="4434840"/>
            <a:ext cx="21488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7F9DE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D7F9DE"/>
                </a:solidFill>
                <a:latin typeface="Arial"/>
                <a:ea typeface="Arial"/>
                <a:cs typeface="Arial"/>
                <a:sym typeface="Arial"/>
              </a:rPr>
              <a:t>1 468 м² газона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 txBox="1"/>
          <p:nvPr/>
        </p:nvSpPr>
        <p:spPr>
          <a:xfrm>
            <a:off x="6858000" y="5303520"/>
            <a:ext cx="4526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F9DE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D7F9DE"/>
                </a:solidFill>
                <a:latin typeface="Arial"/>
                <a:ea typeface="Arial"/>
                <a:cs typeface="Arial"/>
                <a:sym typeface="Arial"/>
              </a:rPr>
              <a:t>Харьковская ул.: слои включаются и выключаются в CAD независимо; повторный запуск заменяет прошлый результат, а не добавляет второй слой.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3" descr="/private/tmp/claude-501/-Users-kornilovartemiy-Desktop-GreenCity/740c8ec2-4d0c-4b8c-ad15-1185ccf47af5/scratchpad/deck/assets/org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9480" y="384048"/>
            <a:ext cx="4434840" cy="2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3"/>
          <p:cNvSpPr txBox="1"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502920" y="320040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3"/>
          <p:cNvSpPr txBox="1"/>
          <p:nvPr/>
        </p:nvSpPr>
        <p:spPr>
          <a:xfrm>
            <a:off x="502920" y="320040"/>
            <a:ext cx="24688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ДО И ПОСЛЕ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457200" y="1280160"/>
            <a:ext cx="5577840" cy="3183026"/>
          </a:xfrm>
          <a:prstGeom prst="roundRect">
            <a:avLst>
              <a:gd name="adj" fmla="val 2298"/>
            </a:avLst>
          </a:prstGeom>
          <a:solidFill>
            <a:srgbClr val="FFFFFF"/>
          </a:solidFill>
          <a:ln w="12700" cap="flat" cmpd="sng">
            <a:solidFill>
              <a:srgbClr val="CFE3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3" name="Google Shape;253;p13" descr="/private/tmp/claude-501/-Users-kornilovartemiy-Desktop-GreenCity/740c8ec2-4d0c-4b8c-ad15-1185ccf47af5/scratchpad/deck/assets/khar_befor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920" y="1325880"/>
            <a:ext cx="5486400" cy="309158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3"/>
          <p:cNvSpPr txBox="1"/>
          <p:nvPr/>
        </p:nvSpPr>
        <p:spPr>
          <a:xfrm>
            <a:off x="502920" y="4508906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До: исходный DXF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6126480" y="1280160"/>
            <a:ext cx="5577840" cy="3183026"/>
          </a:xfrm>
          <a:prstGeom prst="roundRect">
            <a:avLst>
              <a:gd name="adj" fmla="val 2298"/>
            </a:avLst>
          </a:prstGeom>
          <a:solidFill>
            <a:srgbClr val="FFFFFF"/>
          </a:solidFill>
          <a:ln w="12700" cap="flat" cmpd="sng">
            <a:solidFill>
              <a:srgbClr val="CFE3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6" name="Google Shape;256;p13" descr="/private/tmp/claude-501/-Users-kornilovartemiy-Desktop-GreenCity/740c8ec2-4d0c-4b8c-ad15-1185ccf47af5/scratchpad/deck/assets/khar_after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72200" y="1325880"/>
            <a:ext cx="5486400" cy="3091586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3"/>
          <p:cNvSpPr txBox="1"/>
          <p:nvPr/>
        </p:nvSpPr>
        <p:spPr>
          <a:xfrm>
            <a:off x="6172200" y="4508906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После: + слои NEW_TREE, NEW_BUSH, NEW_LAWN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502920" y="4937760"/>
            <a:ext cx="201168" cy="201168"/>
          </a:xfrm>
          <a:prstGeom prst="ellipse">
            <a:avLst/>
          </a:prstGeom>
          <a:solidFill>
            <a:srgbClr val="9AA79B"/>
          </a:solidFill>
          <a:ln w="12700" cap="flat" cmpd="sng">
            <a:solidFill>
              <a:srgbClr val="9AA7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3"/>
          <p:cNvSpPr txBox="1"/>
          <p:nvPr/>
        </p:nvSpPr>
        <p:spPr>
          <a:xfrm>
            <a:off x="795528" y="484632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существующие деревья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3291840" y="4937760"/>
            <a:ext cx="201168" cy="201168"/>
          </a:xfrm>
          <a:prstGeom prst="ellipse">
            <a:avLst/>
          </a:prstGeom>
          <a:solidFill>
            <a:srgbClr val="D9534F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3"/>
          <p:cNvSpPr txBox="1"/>
          <p:nvPr/>
        </p:nvSpPr>
        <p:spPr>
          <a:xfrm>
            <a:off x="3584448" y="484632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сети и их охранные зоны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6080760" y="4937760"/>
            <a:ext cx="201168" cy="201168"/>
          </a:xfrm>
          <a:prstGeom prst="ellipse">
            <a:avLst/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3"/>
          <p:cNvSpPr txBox="1"/>
          <p:nvPr/>
        </p:nvSpPr>
        <p:spPr>
          <a:xfrm>
            <a:off x="6373368" y="484632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новые деревья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8869680" y="4937760"/>
            <a:ext cx="201168" cy="201168"/>
          </a:xfrm>
          <a:prstGeom prst="ellipse">
            <a:avLst/>
          </a:prstGeom>
          <a:solidFill>
            <a:srgbClr val="3FBF6A"/>
          </a:solidFill>
          <a:ln w="12700" cap="flat" cmpd="sng">
            <a:solidFill>
              <a:srgbClr val="3FBF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3"/>
          <p:cNvSpPr txBox="1"/>
          <p:nvPr/>
        </p:nvSpPr>
        <p:spPr>
          <a:xfrm>
            <a:off x="9162288" y="484632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новые кустарники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502920" y="5440680"/>
            <a:ext cx="11155680" cy="822960"/>
          </a:xfrm>
          <a:prstGeom prst="roundRect">
            <a:avLst>
              <a:gd name="adj" fmla="val 15556"/>
            </a:avLst>
          </a:prstGeom>
          <a:solidFill>
            <a:srgbClr val="14532F"/>
          </a:solidFill>
          <a:ln w="12700" cap="flat" cmpd="sng">
            <a:solidFill>
              <a:srgbClr val="1453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3"/>
          <p:cNvSpPr txBox="1"/>
          <p:nvPr/>
        </p:nvSpPr>
        <p:spPr>
          <a:xfrm>
            <a:off x="777240" y="544068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Харьковская улица, реальный участок из набора кейса: 5,4 га · 2 598 зон ограничений · 684 новые посадки · 0 нарушений норм · 2,1 с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14" descr="/private/tmp/claude-501/-Users-kornilovartemiy-Desktop-GreenCity/740c8ec2-4d0c-4b8c-ad15-1185ccf47af5/scratchpad/deck/assets/org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9480" y="384048"/>
            <a:ext cx="4434840" cy="2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4"/>
          <p:cNvSpPr txBox="1"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502920" y="320040"/>
            <a:ext cx="3200400" cy="603504"/>
          </a:xfrm>
          <a:prstGeom prst="roundRect">
            <a:avLst>
              <a:gd name="adj" fmla="val 18182"/>
            </a:avLst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4"/>
          <p:cNvSpPr txBox="1"/>
          <p:nvPr/>
        </p:nvSpPr>
        <p:spPr>
          <a:xfrm>
            <a:off x="502920" y="320040"/>
            <a:ext cx="32004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ДО И ПОСЛЕ</a:t>
            </a:r>
            <a:r>
              <a:rPr lang="ru-RU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в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3D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457200" y="1600200"/>
            <a:ext cx="5577840" cy="2201594"/>
          </a:xfrm>
          <a:prstGeom prst="roundRect">
            <a:avLst>
              <a:gd name="adj" fmla="val 3323"/>
            </a:avLst>
          </a:prstGeom>
          <a:solidFill>
            <a:srgbClr val="FFFFFF"/>
          </a:solidFill>
          <a:ln w="12700" cap="flat" cmpd="sng">
            <a:solidFill>
              <a:srgbClr val="CFE3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8" name="Google Shape;278;p14" descr="/private/tmp/claude-501/-Users-kornilovartemiy-Desktop-GreenCity/740c8ec2-4d0c-4b8c-ad15-1185ccf47af5/scratchpad/deck/assets/yard_before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920" y="1645920"/>
            <a:ext cx="5486400" cy="2110154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4"/>
          <p:cNvSpPr txBox="1"/>
          <p:nvPr/>
        </p:nvSpPr>
        <p:spPr>
          <a:xfrm>
            <a:off x="502920" y="3984674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До: исходный участок — дом, дорожки, фонари, сети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6126480" y="1600200"/>
            <a:ext cx="5577840" cy="2201594"/>
          </a:xfrm>
          <a:prstGeom prst="roundRect">
            <a:avLst>
              <a:gd name="adj" fmla="val 3323"/>
            </a:avLst>
          </a:prstGeom>
          <a:solidFill>
            <a:srgbClr val="FFFFFF"/>
          </a:solidFill>
          <a:ln w="12700" cap="flat" cmpd="sng">
            <a:solidFill>
              <a:srgbClr val="CFE3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1" name="Google Shape;281;p14" descr="/private/tmp/claude-501/-Users-kornilovartemiy-Desktop-GreenCity/740c8ec2-4d0c-4b8c-ad15-1185ccf47af5/scratchpad/deck/assets/yard_after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72200" y="1645920"/>
            <a:ext cx="5486400" cy="2110154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4"/>
          <p:cNvSpPr txBox="1"/>
          <p:nvPr/>
        </p:nvSpPr>
        <p:spPr>
          <a:xfrm>
            <a:off x="6172200" y="3984674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После GreenPlan: деревья, кустарники, газон и дорожки к подъездам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502920" y="5440680"/>
            <a:ext cx="11155680" cy="822960"/>
          </a:xfrm>
          <a:prstGeom prst="roundRect">
            <a:avLst>
              <a:gd name="adj" fmla="val 15556"/>
            </a:avLst>
          </a:prstGeom>
          <a:solidFill>
            <a:srgbClr val="14532F"/>
          </a:solidFill>
          <a:ln w="12700" cap="flat" cmpd="sng">
            <a:solidFill>
              <a:srgbClr val="1453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4"/>
          <p:cNvSpPr txBox="1"/>
          <p:nvPr/>
        </p:nvSpPr>
        <p:spPr>
          <a:xfrm>
            <a:off x="777240" y="544068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Тот же результат в 3D-редакторе: посадка обходит сети и дорожки, у зданий и подъездов держит нормативные отступы; любой объект можно сдвинуть вручную или поправить текстом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15" descr="/private/tmp/claude-501/-Users-kornilovartemiy-Desktop-GreenCity/740c8ec2-4d0c-4b8c-ad15-1185ccf47af5/scratchpad/deck/assets/org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9480" y="384048"/>
            <a:ext cx="4434840" cy="2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5"/>
          <p:cNvSpPr txBox="1"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502920" y="320040"/>
            <a:ext cx="3931920" cy="603504"/>
          </a:xfrm>
          <a:prstGeom prst="roundRect">
            <a:avLst>
              <a:gd name="adj" fmla="val 18182"/>
            </a:avLst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5"/>
          <p:cNvSpPr txBox="1"/>
          <p:nvPr/>
        </p:nvSpPr>
        <p:spPr>
          <a:xfrm>
            <a:off x="502920" y="320040"/>
            <a:ext cx="39319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ИНТЕРПРЕТИРУЕМОСТЬ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457200" y="1280160"/>
            <a:ext cx="5021232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2700" cap="flat" cmpd="sng">
            <a:solidFill>
              <a:srgbClr val="CFE3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5" name="Google Shape;295;p15" descr="/private/tmp/claude-501/-Users-kornilovartemiy-Desktop-GreenCity/740c8ec2-4d0c-4b8c-ad15-1185ccf47af5/scratchpad/deck/assets/note_crop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920" y="1325880"/>
            <a:ext cx="4929792" cy="4892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5"/>
          <p:cNvSpPr txBox="1"/>
          <p:nvPr/>
        </p:nvSpPr>
        <p:spPr>
          <a:xfrm>
            <a:off x="502920" y="6309360"/>
            <a:ext cx="4929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Фрагмент пояснительной записки, сформированной автоматически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5715000" y="1280160"/>
            <a:ext cx="5943600" cy="3154680"/>
          </a:xfrm>
          <a:prstGeom prst="roundRect">
            <a:avLst>
              <a:gd name="adj" fmla="val 5217"/>
            </a:avLst>
          </a:prstGeom>
          <a:solidFill>
            <a:srgbClr val="14532F"/>
          </a:solidFill>
          <a:ln w="12700" cap="flat" cmpd="sng">
            <a:solidFill>
              <a:srgbClr val="1453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5"/>
          <p:cNvSpPr txBox="1"/>
          <p:nvPr/>
        </p:nvSpPr>
        <p:spPr>
          <a:xfrm>
            <a:off x="6035040" y="146304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Пример: клён остролистный, полоса вдоль дорожек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 txBox="1"/>
          <p:nvPr/>
        </p:nvSpPr>
        <p:spPr>
          <a:xfrm>
            <a:off x="6035040" y="2011680"/>
            <a:ext cx="539496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D7F9DE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D7F9DE"/>
                </a:solidFill>
                <a:latin typeface="Arial"/>
                <a:ea typeface="Arial"/>
                <a:cs typeface="Arial"/>
                <a:sym typeface="Arial"/>
              </a:rPr>
              <a:t>Приём: линейная посадка — по аналогии с проектом «Харьковская улица»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800"/>
              </a:spcBef>
              <a:spcAft>
                <a:spcPts val="0"/>
              </a:spcAft>
              <a:buClr>
                <a:srgbClr val="D7F9DE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D7F9DE"/>
                </a:solidFill>
                <a:latin typeface="Arial"/>
                <a:ea typeface="Arial"/>
                <a:cs typeface="Arial"/>
                <a:sym typeface="Arial"/>
              </a:rPr>
              <a:t>Вид: ассортимент Москвы для дворовых территорий, приоритет ППМ 515-ПП, без инвазивных (ППМ 369-ПП)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800"/>
              </a:spcBef>
              <a:spcAft>
                <a:spcPts val="0"/>
              </a:spcAft>
              <a:buClr>
                <a:srgbClr val="D7F9DE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D7F9DE"/>
                </a:solidFill>
                <a:latin typeface="Arial"/>
                <a:ea typeface="Arial"/>
                <a:cs typeface="Arial"/>
                <a:sym typeface="Arial"/>
              </a:rPr>
              <a:t>Не ближе 10 м к зданиям — ППМ 743-ПП, табл. 3.6.1, прим. 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800"/>
              </a:spcBef>
              <a:spcAft>
                <a:spcPts val="0"/>
              </a:spcAft>
              <a:buClr>
                <a:srgbClr val="D7F9DE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D7F9DE"/>
                </a:solidFill>
                <a:latin typeface="Arial"/>
                <a:ea typeface="Arial"/>
                <a:cs typeface="Arial"/>
                <a:sym typeface="Arial"/>
              </a:rPr>
              <a:t>Не ближе 2 м к теплосети — МГСН 1.02-02, п. 4.2.8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800"/>
              </a:spcBef>
              <a:spcAft>
                <a:spcPts val="0"/>
              </a:spcAft>
              <a:buClr>
                <a:srgbClr val="D7F9DE"/>
              </a:buClr>
              <a:buSzPts val="1300"/>
              <a:buFont typeface="Arial"/>
              <a:buChar char="•"/>
            </a:pPr>
            <a:r>
              <a:rPr lang="en-US" sz="1300" b="0" i="0" u="none" strike="noStrike" cap="none">
                <a:solidFill>
                  <a:srgbClr val="D7F9DE"/>
                </a:solidFill>
                <a:latin typeface="Arial"/>
                <a:ea typeface="Arial"/>
                <a:cs typeface="Arial"/>
                <a:sym typeface="Arial"/>
              </a:rPr>
              <a:t>Не ближе 2 м к водопроводу — СП 42.13330.2016, табл. 9.1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 txBox="1"/>
          <p:nvPr/>
        </p:nvSpPr>
        <p:spPr>
          <a:xfrm>
            <a:off x="5715000" y="4663440"/>
            <a:ext cx="5943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В записке: нормы с пунктами, решение по каждой зоне с происхождением, основание подбора видов, ведомость по ГОСТ 21.508 и список нарушений с требуемым отступом.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16" descr="/private/tmp/claude-501/-Users-kornilovartemiy-Desktop-GreenCity/740c8ec2-4d0c-4b8c-ad15-1185ccf47af5/scratchpad/deck/assets/org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9480" y="384048"/>
            <a:ext cx="4434840" cy="2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6"/>
          <p:cNvSpPr txBox="1"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FE3D4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CFE3D4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502920" y="320040"/>
            <a:ext cx="4480560" cy="603504"/>
          </a:xfrm>
          <a:prstGeom prst="roundRect">
            <a:avLst>
              <a:gd name="adj" fmla="val 18182"/>
            </a:avLst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6"/>
          <p:cNvSpPr txBox="1"/>
          <p:nvPr/>
        </p:nvSpPr>
        <p:spPr>
          <a:xfrm>
            <a:off x="502920" y="320040"/>
            <a:ext cx="44805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КОРРЕКТИРОВКА ТЕКСТОМ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502920" y="1280160"/>
            <a:ext cx="5120640" cy="4983480"/>
          </a:xfrm>
          <a:prstGeom prst="roundRect">
            <a:avLst>
              <a:gd name="adj" fmla="val 3303"/>
            </a:avLst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6"/>
          <p:cNvSpPr txBox="1"/>
          <p:nvPr/>
        </p:nvSpPr>
        <p:spPr>
          <a:xfrm>
            <a:off x="777240" y="150876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ИИ-ассистент: правки плана на русском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 txBox="1"/>
          <p:nvPr/>
        </p:nvSpPr>
        <p:spPr>
          <a:xfrm>
            <a:off x="777240" y="2423160"/>
            <a:ext cx="45720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Модель выбирает намерение и параметры, координаты и нормы — планировщик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1000"/>
              </a:spcBef>
              <a:spcAft>
                <a:spcPts val="0"/>
              </a:spcAft>
              <a:buClr>
                <a:srgbClr val="1C1D1A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21 операция: ряды и группы посадок, замена видов, прореживание, дорожки, дизайн двора, запуск GreenPlan с параметрами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1000"/>
              </a:spcBef>
              <a:spcAft>
                <a:spcPts val="0"/>
              </a:spcAft>
              <a:buClr>
                <a:srgbClr val="1C1D1A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Помнит контекст чата («убери их»), последнюю правку можно отменить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1000"/>
              </a:spcBef>
              <a:spcAft>
                <a:spcPts val="0"/>
              </a:spcAft>
              <a:buClr>
                <a:srgbClr val="1C1D1A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29 из 29 типовых просьб на реальной модели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1000"/>
              </a:spcBef>
              <a:spcAft>
                <a:spcPts val="0"/>
              </a:spcAft>
              <a:buClr>
                <a:srgbClr val="1C1D1A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Qwen3 235B в Yandex AI Studio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7635240" y="1463040"/>
            <a:ext cx="3886200" cy="2386645"/>
          </a:xfrm>
          <a:prstGeom prst="roundRect">
            <a:avLst>
              <a:gd name="adj" fmla="val 3831"/>
            </a:avLst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FA89715-E3B1-0924-1DC6-4A021699ED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1164948"/>
            <a:ext cx="6265545" cy="4544241"/>
          </a:xfrm>
          <a:prstGeom prst="rect">
            <a:avLst/>
          </a:prstGeom>
        </p:spPr>
      </p:pic>
      <p:pic>
        <p:nvPicPr>
          <p:cNvPr id="315" name="Google Shape;315;p16" descr="/private/tmp/claude-501/-Users-kornilovartemiy-Desktop-GreenCity/740c8ec2-4d0c-4b8c-ad15-1185ccf47af5/scratchpad/deck/assets/assistant_chat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7905" y="1308639"/>
            <a:ext cx="3794760" cy="224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17" descr="/private/tmp/claude-501/-Users-kornilovartemiy-Desktop-GreenCity/740c8ec2-4d0c-4b8c-ad15-1185ccf47af5/scratchpad/deck/assets/org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9480" y="384048"/>
            <a:ext cx="4434840" cy="2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7"/>
          <p:cNvSpPr txBox="1"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502920" y="320040"/>
            <a:ext cx="2651760" cy="603504"/>
          </a:xfrm>
          <a:prstGeom prst="roundRect">
            <a:avLst>
              <a:gd name="adj" fmla="val 18182"/>
            </a:avLst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7"/>
          <p:cNvSpPr txBox="1"/>
          <p:nvPr/>
        </p:nvSpPr>
        <p:spPr>
          <a:xfrm>
            <a:off x="502920" y="320040"/>
            <a:ext cx="26517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АРХИТЕКТУРА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502920" y="1234440"/>
            <a:ext cx="2926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 cap="flat" cmpd="sng">
            <a:solidFill>
              <a:srgbClr val="CFE3D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7"/>
          <p:cNvSpPr txBox="1"/>
          <p:nvPr/>
        </p:nvSpPr>
        <p:spPr>
          <a:xfrm>
            <a:off x="685800" y="134416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500"/>
              <a:buFont typeface="Arial"/>
              <a:buNone/>
            </a:pPr>
            <a:r>
              <a:rPr lang="en-US" sz="1500" b="1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Браузер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 txBox="1"/>
          <p:nvPr/>
        </p:nvSpPr>
        <p:spPr>
          <a:xfrm>
            <a:off x="685800" y="17373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100"/>
              <a:buFont typeface="Arial"/>
              <a:buNone/>
            </a:pPr>
            <a:r>
              <a:rPr lang="en-US" sz="11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React + TypeScript, 3D-сцена (three.js): </a:t>
            </a:r>
            <a:r>
              <a:rPr lang="en-US" sz="11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просмотр</a:t>
            </a:r>
            <a:r>
              <a:rPr lang="en-US" sz="11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правки</a:t>
            </a:r>
            <a:r>
              <a:rPr lang="en-US" sz="11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мышью</a:t>
            </a:r>
            <a:r>
              <a:rPr lang="en-US" sz="11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чат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502920" y="2880360"/>
            <a:ext cx="2926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 cap="flat" cmpd="sng">
            <a:solidFill>
              <a:srgbClr val="CFE3D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7"/>
          <p:cNvSpPr txBox="1"/>
          <p:nvPr/>
        </p:nvSpPr>
        <p:spPr>
          <a:xfrm>
            <a:off x="685800" y="299008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CAD / </a:t>
            </a:r>
            <a:r>
              <a:rPr lang="en-US" sz="1500" b="1" i="0" u="none" strike="noStrike" cap="none" dirty="0" err="1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nanoCAD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 txBox="1"/>
          <p:nvPr/>
        </p:nvSpPr>
        <p:spPr>
          <a:xfrm>
            <a:off x="685800" y="338328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100"/>
              <a:buFont typeface="Arial"/>
              <a:buNone/>
            </a:pPr>
            <a:r>
              <a:rPr lang="en-US" sz="11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открывает</a:t>
            </a:r>
            <a:r>
              <a:rPr lang="en-US" sz="11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выходной</a:t>
            </a:r>
            <a:r>
              <a:rPr lang="en-US" sz="11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DXF,</a:t>
            </a:r>
            <a:endParaRPr lang="ru-RU" sz="1100" b="0" i="0" u="none" strike="noStrike" cap="none" dirty="0">
              <a:solidFill>
                <a:srgbClr val="5B61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100"/>
              <a:buFont typeface="Arial"/>
              <a:buNone/>
            </a:pPr>
            <a:r>
              <a:rPr lang="en-US" sz="11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слои</a:t>
            </a:r>
            <a:r>
              <a:rPr lang="en-US" sz="11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NEW_* </a:t>
            </a:r>
            <a:r>
              <a:rPr lang="en-US" sz="11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отдельно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502920" y="4526280"/>
            <a:ext cx="29260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 cap="flat" cmpd="sng">
            <a:solidFill>
              <a:srgbClr val="CFE3D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7"/>
          <p:cNvSpPr txBox="1"/>
          <p:nvPr/>
        </p:nvSpPr>
        <p:spPr>
          <a:xfrm>
            <a:off x="685800" y="463600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REST API + Swagger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 txBox="1"/>
          <p:nvPr/>
        </p:nvSpPr>
        <p:spPr>
          <a:xfrm>
            <a:off x="685800" y="502920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100"/>
              <a:buFont typeface="Arial"/>
              <a:buNone/>
            </a:pPr>
            <a:r>
              <a:rPr lang="en-US" sz="11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/docs: </a:t>
            </a:r>
            <a:r>
              <a:rPr lang="en-US" sz="11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вызов</a:t>
            </a:r>
            <a:r>
              <a:rPr lang="en-US" sz="11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любого</a:t>
            </a:r>
            <a:r>
              <a:rPr lang="en-US" sz="11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шага</a:t>
            </a:r>
            <a:r>
              <a:rPr lang="en-US" sz="11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без</a:t>
            </a:r>
            <a:r>
              <a:rPr lang="en-US" sz="11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интерфейса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4069080" y="1234440"/>
            <a:ext cx="4572000" cy="4526280"/>
          </a:xfrm>
          <a:prstGeom prst="roundRect">
            <a:avLst>
              <a:gd name="adj" fmla="val 3232"/>
            </a:avLst>
          </a:prstGeom>
          <a:solidFill>
            <a:srgbClr val="14532F"/>
          </a:solidFill>
          <a:ln w="12700" cap="flat" cmpd="sng">
            <a:solidFill>
              <a:srgbClr val="1453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7"/>
          <p:cNvSpPr txBox="1"/>
          <p:nvPr/>
        </p:nvSpPr>
        <p:spPr>
          <a:xfrm>
            <a:off x="4297680" y="1353312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Бэкенд</a:t>
            </a:r>
            <a:r>
              <a:rPr lang="en-US" sz="1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  <a:r>
              <a:rPr lang="en-US" sz="16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(Python)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4297680" y="187452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1D6A3E"/>
          </a:solidFill>
          <a:ln w="12700" cap="flat" cmpd="sng">
            <a:solidFill>
              <a:srgbClr val="1D6A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7"/>
          <p:cNvSpPr txBox="1"/>
          <p:nvPr/>
        </p:nvSpPr>
        <p:spPr>
          <a:xfrm>
            <a:off x="4480560" y="194767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Импорт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 txBox="1"/>
          <p:nvPr/>
        </p:nvSpPr>
        <p:spPr>
          <a:xfrm>
            <a:off x="4480560" y="2276856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F9DE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D7F9DE"/>
                </a:solidFill>
                <a:latin typeface="Arial"/>
                <a:ea typeface="Arial"/>
                <a:cs typeface="Arial"/>
                <a:sym typeface="Arial"/>
              </a:rPr>
              <a:t>ezdxf; DWG → DXF через LibreDWG в отдельных процессах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4297680" y="283464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1D6A3E"/>
          </a:solidFill>
          <a:ln w="12700" cap="flat" cmpd="sng">
            <a:solidFill>
              <a:srgbClr val="1D6A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7"/>
          <p:cNvSpPr txBox="1"/>
          <p:nvPr/>
        </p:nvSpPr>
        <p:spPr>
          <a:xfrm>
            <a:off x="4480560" y="290779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GreenPlan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7"/>
          <p:cNvSpPr txBox="1"/>
          <p:nvPr/>
        </p:nvSpPr>
        <p:spPr>
          <a:xfrm>
            <a:off x="4480560" y="3236976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F9DE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D7F9DE"/>
                </a:solidFill>
                <a:latin typeface="Arial"/>
                <a:ea typeface="Arial"/>
                <a:cs typeface="Arial"/>
                <a:sym typeface="Arial"/>
              </a:rPr>
              <a:t>shapely, numpy: нормы, аналоги, расстановка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4297680" y="379476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1D6A3E"/>
          </a:solidFill>
          <a:ln w="12700" cap="flat" cmpd="sng">
            <a:solidFill>
              <a:srgbClr val="1D6A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7"/>
          <p:cNvSpPr txBox="1"/>
          <p:nvPr/>
        </p:nvSpPr>
        <p:spPr>
          <a:xfrm>
            <a:off x="4480560" y="386791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ИИ-ассистент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 txBox="1"/>
          <p:nvPr/>
        </p:nvSpPr>
        <p:spPr>
          <a:xfrm>
            <a:off x="4480560" y="4197096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F9DE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D7F9DE"/>
                </a:solidFill>
                <a:latin typeface="Arial"/>
                <a:ea typeface="Arial"/>
                <a:cs typeface="Arial"/>
                <a:sym typeface="Arial"/>
              </a:rPr>
              <a:t>операции → планировщик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4297680" y="475488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1D6A3E"/>
          </a:solidFill>
          <a:ln w="12700" cap="flat" cmpd="sng">
            <a:solidFill>
              <a:srgbClr val="1D6A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7"/>
          <p:cNvSpPr txBox="1"/>
          <p:nvPr/>
        </p:nvSpPr>
        <p:spPr>
          <a:xfrm>
            <a:off x="4480560" y="482803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Экспорт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 txBox="1"/>
          <p:nvPr/>
        </p:nvSpPr>
        <p:spPr>
          <a:xfrm>
            <a:off x="4480560" y="5157216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F9DE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D7F9DE"/>
                </a:solidFill>
                <a:latin typeface="Arial"/>
                <a:ea typeface="Arial"/>
                <a:cs typeface="Arial"/>
                <a:sym typeface="Arial"/>
              </a:rPr>
              <a:t>DXF со слоями NEW_*, записка DOCX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9281160" y="1234440"/>
            <a:ext cx="2377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 cap="flat" cmpd="sng">
            <a:solidFill>
              <a:srgbClr val="CFE3D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7"/>
          <p:cNvSpPr txBox="1"/>
          <p:nvPr/>
        </p:nvSpPr>
        <p:spPr>
          <a:xfrm>
            <a:off x="9464040" y="1344168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Yandex AI Studio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 txBox="1"/>
          <p:nvPr/>
        </p:nvSpPr>
        <p:spPr>
          <a:xfrm>
            <a:off x="9464040" y="17373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100"/>
              <a:buFont typeface="Arial"/>
              <a:buNone/>
            </a:pPr>
            <a:r>
              <a:rPr lang="en-US" sz="11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Qwen3 235B — </a:t>
            </a:r>
            <a:r>
              <a:rPr lang="en-US" sz="11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ассистент</a:t>
            </a:r>
            <a:r>
              <a:rPr lang="en-US" sz="11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US" sz="11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YandexGPT</a:t>
            </a:r>
            <a:r>
              <a:rPr lang="en-US" sz="11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5.1 Pro — </a:t>
            </a:r>
            <a:r>
              <a:rPr lang="en-US" sz="11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r>
              <a:rPr lang="en-US" sz="11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записки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9281160" y="2880360"/>
            <a:ext cx="2377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 cap="flat" cmpd="sng">
            <a:solidFill>
              <a:srgbClr val="CFE3D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7"/>
          <p:cNvSpPr txBox="1"/>
          <p:nvPr/>
        </p:nvSpPr>
        <p:spPr>
          <a:xfrm>
            <a:off x="9464040" y="2990088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MongoDB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 txBox="1"/>
          <p:nvPr/>
        </p:nvSpPr>
        <p:spPr>
          <a:xfrm>
            <a:off x="9464040" y="33832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100"/>
              <a:buFont typeface="Arial"/>
              <a:buNone/>
            </a:pPr>
            <a:r>
              <a:rPr lang="en-US" sz="11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сохранённые</a:t>
            </a:r>
            <a:r>
              <a:rPr lang="en-US" sz="11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проекты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9281160" y="4526280"/>
            <a:ext cx="2377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 cap="flat" cmpd="sng">
            <a:solidFill>
              <a:srgbClr val="CFE3D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7"/>
          <p:cNvSpPr txBox="1"/>
          <p:nvPr/>
        </p:nvSpPr>
        <p:spPr>
          <a:xfrm>
            <a:off x="9464040" y="4636008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500"/>
              <a:buFont typeface="Arial"/>
              <a:buNone/>
            </a:pPr>
            <a:r>
              <a:rPr lang="en-US" sz="1500" b="1" i="0" u="none" strike="noStrike" cap="none" dirty="0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Redis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 txBox="1"/>
          <p:nvPr/>
        </p:nvSpPr>
        <p:spPr>
          <a:xfrm>
            <a:off x="9464040" y="502920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100"/>
              <a:buFont typeface="Arial"/>
              <a:buNone/>
            </a:pPr>
            <a:r>
              <a:rPr lang="en-US" sz="11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сессии</a:t>
            </a:r>
            <a:r>
              <a:rPr lang="en-US" sz="11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кэш</a:t>
            </a:r>
            <a:r>
              <a:rPr lang="en-US" sz="1100" b="0" i="0" u="none" strike="noStrike" cap="none" dirty="0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каталога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7" name="Google Shape;357;p17"/>
          <p:cNvCxnSpPr/>
          <p:nvPr/>
        </p:nvCxnSpPr>
        <p:spPr>
          <a:xfrm>
            <a:off x="3429000" y="1856232"/>
            <a:ext cx="640080" cy="0"/>
          </a:xfrm>
          <a:prstGeom prst="straightConnector1">
            <a:avLst/>
          </a:prstGeom>
          <a:noFill/>
          <a:ln w="25400" cap="flat" cmpd="sng">
            <a:solidFill>
              <a:srgbClr val="009A4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8" name="Google Shape;358;p17"/>
          <p:cNvCxnSpPr/>
          <p:nvPr/>
        </p:nvCxnSpPr>
        <p:spPr>
          <a:xfrm rot="10800000">
            <a:off x="3429000" y="3502152"/>
            <a:ext cx="640080" cy="0"/>
          </a:xfrm>
          <a:prstGeom prst="straightConnector1">
            <a:avLst/>
          </a:prstGeom>
          <a:noFill/>
          <a:ln w="25400" cap="flat" cmpd="sng">
            <a:solidFill>
              <a:srgbClr val="009A4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59" name="Google Shape;359;p17"/>
          <p:cNvCxnSpPr/>
          <p:nvPr/>
        </p:nvCxnSpPr>
        <p:spPr>
          <a:xfrm>
            <a:off x="3429000" y="5148072"/>
            <a:ext cx="640080" cy="0"/>
          </a:xfrm>
          <a:prstGeom prst="straightConnector1">
            <a:avLst/>
          </a:prstGeom>
          <a:noFill/>
          <a:ln w="25400" cap="flat" cmpd="sng">
            <a:solidFill>
              <a:srgbClr val="009A4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0" name="Google Shape;360;p17"/>
          <p:cNvCxnSpPr/>
          <p:nvPr/>
        </p:nvCxnSpPr>
        <p:spPr>
          <a:xfrm>
            <a:off x="8641080" y="1856232"/>
            <a:ext cx="640080" cy="0"/>
          </a:xfrm>
          <a:prstGeom prst="straightConnector1">
            <a:avLst/>
          </a:prstGeom>
          <a:noFill/>
          <a:ln w="25400" cap="flat" cmpd="sng">
            <a:solidFill>
              <a:srgbClr val="009A4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1" name="Google Shape;361;p17"/>
          <p:cNvCxnSpPr/>
          <p:nvPr/>
        </p:nvCxnSpPr>
        <p:spPr>
          <a:xfrm>
            <a:off x="8641080" y="3502152"/>
            <a:ext cx="640080" cy="0"/>
          </a:xfrm>
          <a:prstGeom prst="straightConnector1">
            <a:avLst/>
          </a:prstGeom>
          <a:noFill/>
          <a:ln w="25400" cap="flat" cmpd="sng">
            <a:solidFill>
              <a:srgbClr val="009A4D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2" name="Google Shape;362;p17"/>
          <p:cNvCxnSpPr/>
          <p:nvPr/>
        </p:nvCxnSpPr>
        <p:spPr>
          <a:xfrm>
            <a:off x="8641080" y="5148072"/>
            <a:ext cx="640080" cy="0"/>
          </a:xfrm>
          <a:prstGeom prst="straightConnector1">
            <a:avLst/>
          </a:prstGeom>
          <a:noFill/>
          <a:ln w="25400" cap="flat" cmpd="sng">
            <a:solidFill>
              <a:srgbClr val="009A4D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63" name="Google Shape;363;p17"/>
          <p:cNvSpPr/>
          <p:nvPr/>
        </p:nvSpPr>
        <p:spPr>
          <a:xfrm>
            <a:off x="502920" y="6035040"/>
            <a:ext cx="10607040" cy="457200"/>
          </a:xfrm>
          <a:prstGeom prst="roundRect">
            <a:avLst>
              <a:gd name="adj" fmla="val 20000"/>
            </a:avLst>
          </a:prstGeom>
          <a:solidFill>
            <a:srgbClr val="EEF7F0"/>
          </a:solidFill>
          <a:ln w="12700" cap="flat" cmpd="sng">
            <a:solidFill>
              <a:srgbClr val="CFE3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7"/>
          <p:cNvSpPr txBox="1"/>
          <p:nvPr/>
        </p:nvSpPr>
        <p:spPr>
          <a:xfrm>
            <a:off x="731520" y="603504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Запуск: </a:t>
            </a:r>
            <a:r>
              <a:rPr lang="en-US" sz="1300" b="1" i="0" u="none" strike="noStrike" cap="none">
                <a:solidFill>
                  <a:srgbClr val="1C1D1A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up -d --build</a:t>
            </a:r>
            <a:r>
              <a:rPr lang="en-US" sz="13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  →  веб-интерфейс localhost:5173 · Swagger localhost:5173/docs · Linux / МосТех.ОС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18" descr="/private/tmp/claude-501/-Users-kornilovartemiy-Desktop-GreenCity/740c8ec2-4d0c-4b8c-ad15-1185ccf47af5/scratchpad/deck/assets/org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9480" y="384048"/>
            <a:ext cx="4434840" cy="2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8"/>
          <p:cNvSpPr txBox="1"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FE3D4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CFE3D4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502920" y="320040"/>
            <a:ext cx="2468880" cy="603504"/>
          </a:xfrm>
          <a:prstGeom prst="roundRect">
            <a:avLst>
              <a:gd name="adj" fmla="val 18182"/>
            </a:avLst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8"/>
          <p:cNvSpPr txBox="1"/>
          <p:nvPr/>
        </p:nvSpPr>
        <p:spPr>
          <a:xfrm>
            <a:off x="502920" y="320040"/>
            <a:ext cx="24688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РЕЗУЛЬТАТЫ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502920" y="1371600"/>
            <a:ext cx="3566160" cy="2240280"/>
          </a:xfrm>
          <a:prstGeom prst="roundRect">
            <a:avLst>
              <a:gd name="adj" fmla="val 7347"/>
            </a:avLst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8"/>
          <p:cNvSpPr txBox="1"/>
          <p:nvPr/>
        </p:nvSpPr>
        <p:spPr>
          <a:xfrm>
            <a:off x="777240" y="160020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2,1 с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 txBox="1"/>
          <p:nvPr/>
        </p:nvSpPr>
        <p:spPr>
          <a:xfrm>
            <a:off x="777240" y="2560320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проект озеленения участка 5,4 га с 2 598 зонами ограничений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4270248" y="1371600"/>
            <a:ext cx="3566160" cy="2240280"/>
          </a:xfrm>
          <a:prstGeom prst="roundRect">
            <a:avLst>
              <a:gd name="adj" fmla="val 7347"/>
            </a:avLst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8"/>
          <p:cNvSpPr txBox="1"/>
          <p:nvPr/>
        </p:nvSpPr>
        <p:spPr>
          <a:xfrm>
            <a:off x="4544568" y="160020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8"/>
          <p:cNvSpPr txBox="1"/>
          <p:nvPr/>
        </p:nvSpPr>
        <p:spPr>
          <a:xfrm>
            <a:off x="4544568" y="2560320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нарушений норм у новой посадки на реальных участках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8037576" y="1371600"/>
            <a:ext cx="3566160" cy="2240280"/>
          </a:xfrm>
          <a:prstGeom prst="roundRect">
            <a:avLst>
              <a:gd name="adj" fmla="val 7347"/>
            </a:avLst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8"/>
          <p:cNvSpPr txBox="1"/>
          <p:nvPr/>
        </p:nvSpPr>
        <p:spPr>
          <a:xfrm>
            <a:off x="8311896" y="160020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~20 с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8"/>
          <p:cNvSpPr txBox="1"/>
          <p:nvPr/>
        </p:nvSpPr>
        <p:spPr>
          <a:xfrm>
            <a:off x="8311896" y="2560320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разбор реальной папки DWG в готовую сцену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502920" y="3840480"/>
            <a:ext cx="3566160" cy="2240280"/>
          </a:xfrm>
          <a:prstGeom prst="roundRect">
            <a:avLst>
              <a:gd name="adj" fmla="val 7347"/>
            </a:avLst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8"/>
          <p:cNvSpPr txBox="1"/>
          <p:nvPr/>
        </p:nvSpPr>
        <p:spPr>
          <a:xfrm>
            <a:off x="777240" y="406908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684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8"/>
          <p:cNvSpPr txBox="1"/>
          <p:nvPr/>
        </p:nvSpPr>
        <p:spPr>
          <a:xfrm>
            <a:off x="777240" y="5029200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новые посадки на одном участке: деревья, кусты и газон 1 468 м²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8"/>
          <p:cNvSpPr/>
          <p:nvPr/>
        </p:nvSpPr>
        <p:spPr>
          <a:xfrm>
            <a:off x="4270248" y="3840480"/>
            <a:ext cx="3566160" cy="2240280"/>
          </a:xfrm>
          <a:prstGeom prst="roundRect">
            <a:avLst>
              <a:gd name="adj" fmla="val 7347"/>
            </a:avLst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8"/>
          <p:cNvSpPr txBox="1"/>
          <p:nvPr/>
        </p:nvSpPr>
        <p:spPr>
          <a:xfrm>
            <a:off x="4544568" y="406908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8"/>
          <p:cNvSpPr txBox="1"/>
          <p:nvPr/>
        </p:nvSpPr>
        <p:spPr>
          <a:xfrm>
            <a:off x="4544568" y="5029200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проекта-аналога в корпусе, 220 видов растений в каталоге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"/>
          <p:cNvSpPr/>
          <p:nvPr/>
        </p:nvSpPr>
        <p:spPr>
          <a:xfrm>
            <a:off x="8037576" y="3840480"/>
            <a:ext cx="3566160" cy="2240280"/>
          </a:xfrm>
          <a:prstGeom prst="roundRect">
            <a:avLst>
              <a:gd name="adj" fmla="val 7347"/>
            </a:avLst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8"/>
          <p:cNvSpPr txBox="1"/>
          <p:nvPr/>
        </p:nvSpPr>
        <p:spPr>
          <a:xfrm>
            <a:off x="8311896" y="4069080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29 / 29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8"/>
          <p:cNvSpPr txBox="1"/>
          <p:nvPr/>
        </p:nvSpPr>
        <p:spPr>
          <a:xfrm>
            <a:off x="8311896" y="5029200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типовых правок текстом выполнил ИИ-ассистент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19" descr="/private/tmp/claude-501/-Users-kornilovartemiy-Desktop-GreenCity/740c8ec2-4d0c-4b8c-ad15-1185ccf47af5/scratchpad/deck/assets/org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9480" y="384048"/>
            <a:ext cx="4434840" cy="2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9"/>
          <p:cNvSpPr txBox="1"/>
          <p:nvPr/>
        </p:nvSpPr>
        <p:spPr>
          <a:xfrm>
            <a:off x="1136873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9"/>
          <p:cNvSpPr/>
          <p:nvPr/>
        </p:nvSpPr>
        <p:spPr>
          <a:xfrm>
            <a:off x="502920" y="320040"/>
            <a:ext cx="2103120" cy="603504"/>
          </a:xfrm>
          <a:prstGeom prst="roundRect">
            <a:avLst>
              <a:gd name="adj" fmla="val 18182"/>
            </a:avLst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9"/>
          <p:cNvSpPr txBox="1"/>
          <p:nvPr/>
        </p:nvSpPr>
        <p:spPr>
          <a:xfrm>
            <a:off x="502920" y="320040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РАЗВИТИЕ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9"/>
          <p:cNvSpPr/>
          <p:nvPr/>
        </p:nvSpPr>
        <p:spPr>
          <a:xfrm>
            <a:off x="502920" y="1325880"/>
            <a:ext cx="5486400" cy="4937760"/>
          </a:xfrm>
          <a:prstGeom prst="roundRect">
            <a:avLst>
              <a:gd name="adj" fmla="val 3704"/>
            </a:avLst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9"/>
          <p:cNvSpPr txBox="1"/>
          <p:nvPr/>
        </p:nvSpPr>
        <p:spPr>
          <a:xfrm>
            <a:off x="868680" y="160020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Чем больше проектов — тем лучше решения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9"/>
          <p:cNvSpPr txBox="1"/>
          <p:nvPr/>
        </p:nvSpPr>
        <p:spPr>
          <a:xfrm>
            <a:off x="868680" y="269748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F9DE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D7F9DE"/>
                </a:solidFill>
                <a:latin typeface="Arial"/>
                <a:ea typeface="Arial"/>
                <a:cs typeface="Arial"/>
                <a:sym typeface="Arial"/>
              </a:rPr>
              <a:t>GreenPlan не выдумывает озеленение, а опирается на похожие реализованные проекты. Каждый новый проект пополняет корпус аналогов: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9"/>
          <p:cNvSpPr txBox="1"/>
          <p:nvPr/>
        </p:nvSpPr>
        <p:spPr>
          <a:xfrm>
            <a:off x="868680" y="374904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3200" marR="0" lvl="0" indent="-2032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точнее находится похожий участок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больше приёмов и стилей на выбор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3200" marR="0" lvl="0" indent="-2032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решения ближе к практике проектировщиков Москвы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9"/>
          <p:cNvSpPr/>
          <p:nvPr/>
        </p:nvSpPr>
        <p:spPr>
          <a:xfrm>
            <a:off x="868680" y="5257800"/>
            <a:ext cx="4754880" cy="731520"/>
          </a:xfrm>
          <a:prstGeom prst="roundRect">
            <a:avLst>
              <a:gd name="adj" fmla="val 15000"/>
            </a:avLst>
          </a:prstGeom>
          <a:solidFill>
            <a:srgbClr val="1D6A3E"/>
          </a:solidFill>
          <a:ln w="12700" cap="flat" cmpd="sng">
            <a:solidFill>
              <a:srgbClr val="1D6A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9"/>
          <p:cNvSpPr txBox="1"/>
          <p:nvPr/>
        </p:nvSpPr>
        <p:spPr>
          <a:xfrm>
            <a:off x="1051560" y="5257800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Сейчас: </a:t>
            </a: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34 проекта. Новый проект добавляется в корпус без изменения кода.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9"/>
          <p:cNvSpPr txBox="1"/>
          <p:nvPr/>
        </p:nvSpPr>
        <p:spPr>
          <a:xfrm>
            <a:off x="6355080" y="137160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Куда развивать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9"/>
          <p:cNvSpPr/>
          <p:nvPr/>
        </p:nvSpPr>
        <p:spPr>
          <a:xfrm>
            <a:off x="6355080" y="1920240"/>
            <a:ext cx="658368" cy="658368"/>
          </a:xfrm>
          <a:prstGeom prst="ellipse">
            <a:avLst/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9" name="Google Shape;409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99921" y="2065081"/>
            <a:ext cx="368686" cy="368686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9"/>
          <p:cNvSpPr txBox="1"/>
          <p:nvPr/>
        </p:nvSpPr>
        <p:spPr>
          <a:xfrm>
            <a:off x="7223760" y="1901952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Пилот в контуре ДПиООС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9"/>
          <p:cNvSpPr txBox="1"/>
          <p:nvPr/>
        </p:nvSpPr>
        <p:spPr>
          <a:xfrm>
            <a:off x="7223760" y="2267712"/>
            <a:ext cx="4434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развёртывание под МосТех.ОС на данных департамента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9"/>
          <p:cNvSpPr/>
          <p:nvPr/>
        </p:nvSpPr>
        <p:spPr>
          <a:xfrm>
            <a:off x="6355080" y="2852928"/>
            <a:ext cx="658368" cy="658368"/>
          </a:xfrm>
          <a:prstGeom prst="ellipse">
            <a:avLst/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3" name="Google Shape;413;p1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99921" y="2997769"/>
            <a:ext cx="368686" cy="368686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9"/>
          <p:cNvSpPr txBox="1"/>
          <p:nvPr/>
        </p:nvSpPr>
        <p:spPr>
          <a:xfrm>
            <a:off x="7223760" y="2834640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Корпус проектов департамента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9"/>
          <p:cNvSpPr txBox="1"/>
          <p:nvPr/>
        </p:nvSpPr>
        <p:spPr>
          <a:xfrm>
            <a:off x="7223760" y="3200400"/>
            <a:ext cx="4434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реальные проекты ДПиООС как аналоги для новых участков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9"/>
          <p:cNvSpPr/>
          <p:nvPr/>
        </p:nvSpPr>
        <p:spPr>
          <a:xfrm>
            <a:off x="6355080" y="3785616"/>
            <a:ext cx="658368" cy="658368"/>
          </a:xfrm>
          <a:prstGeom prst="ellipse">
            <a:avLst/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7" name="Google Shape;417;p1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99921" y="3930457"/>
            <a:ext cx="368686" cy="368686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9"/>
          <p:cNvSpPr txBox="1"/>
          <p:nvPr/>
        </p:nvSpPr>
        <p:spPr>
          <a:xfrm>
            <a:off x="7223760" y="3767328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Существующие деревья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9"/>
          <p:cNvSpPr txBox="1"/>
          <p:nvPr/>
        </p:nvSpPr>
        <p:spPr>
          <a:xfrm>
            <a:off x="7223760" y="4133088"/>
            <a:ext cx="4434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сохранить, пересадить, вырубить и расчёт компенсации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9"/>
          <p:cNvSpPr/>
          <p:nvPr/>
        </p:nvSpPr>
        <p:spPr>
          <a:xfrm>
            <a:off x="6355080" y="4718304"/>
            <a:ext cx="658368" cy="658368"/>
          </a:xfrm>
          <a:prstGeom prst="ellipse">
            <a:avLst/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1" name="Google Shape;421;p1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99921" y="4863145"/>
            <a:ext cx="368686" cy="368686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9"/>
          <p:cNvSpPr txBox="1"/>
          <p:nvPr/>
        </p:nvSpPr>
        <p:spPr>
          <a:xfrm>
            <a:off x="7223760" y="4700016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Визуализации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9"/>
          <p:cNvSpPr txBox="1"/>
          <p:nvPr/>
        </p:nvSpPr>
        <p:spPr>
          <a:xfrm>
            <a:off x="7223760" y="5065776"/>
            <a:ext cx="4434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фотореалистичный вид участка после финального DXF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9"/>
          <p:cNvSpPr/>
          <p:nvPr/>
        </p:nvSpPr>
        <p:spPr>
          <a:xfrm>
            <a:off x="6355080" y="5669280"/>
            <a:ext cx="5303520" cy="640080"/>
          </a:xfrm>
          <a:prstGeom prst="roundRect">
            <a:avLst>
              <a:gd name="adj" fmla="val 14286"/>
            </a:avLst>
          </a:prstGeom>
          <a:solidFill>
            <a:srgbClr val="EEF7F0"/>
          </a:solidFill>
          <a:ln w="12700" cap="flat" cmpd="sng">
            <a:solidFill>
              <a:srgbClr val="CFE3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9"/>
          <p:cNvSpPr txBox="1"/>
          <p:nvPr/>
        </p:nvSpPr>
        <p:spPr>
          <a:xfrm>
            <a:off x="6537960" y="5669280"/>
            <a:ext cx="4983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7A34"/>
              </a:buClr>
              <a:buSzPts val="1150"/>
              <a:buFont typeface="Arial"/>
              <a:buNone/>
            </a:pPr>
            <a:r>
              <a:rPr lang="en-US" sz="1150" b="1" i="0" u="none" strike="noStrike" cap="none">
                <a:solidFill>
                  <a:srgbClr val="007A34"/>
                </a:solidFill>
                <a:latin typeface="Arial"/>
                <a:ea typeface="Arial"/>
                <a:cs typeface="Arial"/>
                <a:sym typeface="Arial"/>
              </a:rPr>
              <a:t>Ограничения: </a:t>
            </a:r>
            <a:r>
              <a:rPr lang="en-US" sz="1150" b="0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работали с маленьким и местами некорректным датасетом — 14 реальных проектов, часть чертежей с ошибками в слоях и геометрии.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20" descr="/private/tmp/claude-501/-Users-kornilovartemiy-Desktop-GreenCity/740c8ec2-4d0c-4b8c-ad15-1185ccf47af5/scratchpad/deck/assets/landscape_titl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933017"/>
            <a:ext cx="12191695" cy="3924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20" descr="/private/tmp/claude-501/-Users-kornilovartemiy-Desktop-GreenCity/740c8ec2-4d0c-4b8c-ad15-1185ccf47af5/scratchpad/deck/assets/org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457200"/>
            <a:ext cx="5669280" cy="356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20" descr="/private/tmp/claude-501/-Users-kornilovartemiy-Desktop-GreenCity/740c8ec2-4d0c-4b8c-ad15-1185ccf47af5/scratchpad/deck/assets/eco_dark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64040" y="292608"/>
            <a:ext cx="2194560" cy="86659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0"/>
          <p:cNvSpPr txBox="1"/>
          <p:nvPr/>
        </p:nvSpPr>
        <p:spPr>
          <a:xfrm>
            <a:off x="548640" y="1234440"/>
            <a:ext cx="42062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D1A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1C1D1A"/>
                </a:solidFill>
                <a:latin typeface="Arial"/>
                <a:ea typeface="Arial"/>
                <a:cs typeface="Arial"/>
                <a:sym typeface="Arial"/>
              </a:rPr>
              <a:t>Спасибо!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0"/>
          <p:cNvSpPr/>
          <p:nvPr/>
        </p:nvSpPr>
        <p:spPr>
          <a:xfrm>
            <a:off x="4892040" y="1517904"/>
            <a:ext cx="2926080" cy="502920"/>
          </a:xfrm>
          <a:prstGeom prst="roundRect">
            <a:avLst>
              <a:gd name="adj" fmla="val 21818"/>
            </a:avLst>
          </a:prstGeom>
          <a:solidFill>
            <a:srgbClr val="007A34"/>
          </a:solidFill>
          <a:ln w="12700" cap="flat" cmpd="sng">
            <a:solidFill>
              <a:srgbClr val="007A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0"/>
          <p:cNvSpPr txBox="1"/>
          <p:nvPr/>
        </p:nvSpPr>
        <p:spPr>
          <a:xfrm>
            <a:off x="4892040" y="1517904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Команда «Вороны»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0"/>
          <p:cNvSpPr txBox="1"/>
          <p:nvPr/>
        </p:nvSpPr>
        <p:spPr>
          <a:xfrm>
            <a:off x="548640" y="23317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GreenCity — от чертежа участка до проверенного по нормам плана озеленения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8" name="Google Shape;438;p20" descr="/private/tmp/claude-501/-Users-kornilovartemiy-Desktop-GreenCity/740c8ec2-4d0c-4b8c-ad15-1185ccf47af5/scratchpad/deck/assets/crow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55280" y="1170432"/>
            <a:ext cx="1143000" cy="957923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0"/>
          <p:cNvSpPr txBox="1"/>
          <p:nvPr/>
        </p:nvSpPr>
        <p:spPr>
          <a:xfrm>
            <a:off x="548640" y="27432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158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B6158"/>
                </a:solidFill>
                <a:latin typeface="Arial"/>
                <a:ea typeface="Arial"/>
                <a:cs typeface="Arial"/>
                <a:sym typeface="Arial"/>
              </a:rPr>
              <a:t>Артемий Корнилов · Константин Жадько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D092C1-B7C7-2DFA-1EAA-DAF4A7CA30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62" b="7524"/>
          <a:stretch/>
        </p:blipFill>
        <p:spPr>
          <a:xfrm>
            <a:off x="0" y="497840"/>
            <a:ext cx="12192000" cy="636016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4369894-6463-2F70-531B-BB85119B7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320" y="0"/>
            <a:ext cx="5801360" cy="580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647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1686</Words>
  <Application>Microsoft Office PowerPoint</Application>
  <PresentationFormat>Широкоэкранный</PresentationFormat>
  <Paragraphs>272</Paragraphs>
  <Slides>19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ryplesh</cp:lastModifiedBy>
  <cp:revision>3</cp:revision>
  <dcterms:modified xsi:type="dcterms:W3CDTF">2026-09-28T14:33:00Z</dcterms:modified>
</cp:coreProperties>
</file>